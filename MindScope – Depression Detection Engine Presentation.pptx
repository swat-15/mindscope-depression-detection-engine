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70" r:id="rId4"/>
    <p:sldId id="257" r:id="rId5"/>
    <p:sldId id="258" r:id="rId7"/>
    <p:sldId id="260" r:id="rId8"/>
    <p:sldId id="261" r:id="rId9"/>
    <p:sldId id="262" r:id="rId10"/>
    <p:sldId id="264" r:id="rId11"/>
    <p:sldId id="263" r:id="rId12"/>
    <p:sldId id="265" r:id="rId13"/>
    <p:sldId id="266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5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12206817" cy="686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94405"/>
            <a:ext cx="10800000" cy="792000"/>
          </a:xfrm>
        </p:spPr>
        <p:txBody>
          <a:bodyPr/>
          <a:lstStyle>
            <a:lvl1pPr algn="ctr"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r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image" Target="../media/image3.jpeg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9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0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4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6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tags" Target="../tags/tag17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8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en-US"/>
              <a:t>MindScope – Depression Detection Engine</a:t>
            </a:r>
            <a:endParaRPr lang="en-US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en-US">
                <a:sym typeface="+mn-ea"/>
              </a:rPr>
              <a:t>Depression Detection from Social Media Posts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493510" y="49860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en-US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Challenges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" panose="02040502050405020303" charset="0"/>
                <a:cs typeface="Georgia" panose="02040502050405020303" charset="0"/>
              </a:rPr>
              <a:t>Ambiguous Self-Expression</a:t>
            </a:r>
            <a:endParaRPr lang="en-US" altLang="en-US" sz="1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Georgia" panose="02040502050405020303" charset="0"/>
              <a:cs typeface="Georgia" panose="02040502050405020303" charset="0"/>
            </a:endParaRPr>
          </a:p>
          <a:p>
            <a:pPr marL="0" indent="0">
              <a:buNone/>
            </a:pPr>
            <a:r>
              <a:rPr lang="en-US" altLang="en-US" sz="1400">
                <a:latin typeface="Georgia" panose="02040502050405020303" charset="0"/>
                <a:cs typeface="Georgia" panose="02040502050405020303" charset="0"/>
              </a:rPr>
              <a:t>Sad words ≠ depression; people often hide or exaggerate</a:t>
            </a:r>
            <a:endParaRPr lang="en-US" altLang="en-US" sz="1400">
              <a:latin typeface="Georgia" panose="02040502050405020303" charset="0"/>
              <a:cs typeface="Georgia" panose="02040502050405020303" charset="0"/>
            </a:endParaRPr>
          </a:p>
          <a:p>
            <a:pPr marL="0" indent="0">
              <a:buNone/>
            </a:pPr>
            <a:r>
              <a:rPr lang="en-US" altLang="en-US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" panose="02040502050405020303" charset="0"/>
                <a:cs typeface="Georgia" panose="02040502050405020303" charset="0"/>
              </a:rPr>
              <a:t>Solution:</a:t>
            </a:r>
            <a:r>
              <a:rPr lang="en-US" altLang="en-US" sz="1400">
                <a:latin typeface="Georgia" panose="02040502050405020303" charset="0"/>
                <a:cs typeface="Georgia" panose="02040502050405020303" charset="0"/>
              </a:rPr>
              <a:t> Use multi-feature signals (emotion, writing style, context)</a:t>
            </a:r>
            <a:endParaRPr lang="en-US" altLang="en-US" sz="1400">
              <a:latin typeface="Georgia" panose="02040502050405020303" charset="0"/>
              <a:cs typeface="Georgia" panose="02040502050405020303" charset="0"/>
            </a:endParaRPr>
          </a:p>
          <a:p>
            <a:pPr marL="0" indent="0">
              <a:buNone/>
            </a:pPr>
            <a:endParaRPr lang="en-US" altLang="en-US" sz="1400">
              <a:latin typeface="Georgia" panose="02040502050405020303" charset="0"/>
              <a:cs typeface="Georgia" panose="02040502050405020303" charset="0"/>
            </a:endParaRPr>
          </a:p>
          <a:p>
            <a:r>
              <a:rPr lang="en-US" altLang="en-US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" panose="02040502050405020303" charset="0"/>
                <a:cs typeface="Georgia" panose="02040502050405020303" charset="0"/>
              </a:rPr>
              <a:t>Overfitting to Trigger Words</a:t>
            </a:r>
            <a:endParaRPr lang="en-US" altLang="en-US" sz="1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Georgia" panose="02040502050405020303" charset="0"/>
              <a:cs typeface="Georgia" panose="02040502050405020303" charset="0"/>
            </a:endParaRPr>
          </a:p>
          <a:p>
            <a:pPr marL="0" indent="0">
              <a:buNone/>
            </a:pPr>
            <a:r>
              <a:rPr lang="en-US" altLang="en-US" sz="1400">
                <a:latin typeface="Georgia" panose="02040502050405020303" charset="0"/>
                <a:cs typeface="Georgia" panose="02040502050405020303" charset="0"/>
              </a:rPr>
              <a:t>Models may rely on simple words like “sad” or “kill”</a:t>
            </a:r>
            <a:endParaRPr lang="en-US" altLang="en-US" sz="1400">
              <a:latin typeface="Georgia" panose="02040502050405020303" charset="0"/>
              <a:cs typeface="Georgia" panose="02040502050405020303" charset="0"/>
            </a:endParaRPr>
          </a:p>
          <a:p>
            <a:pPr marL="0" indent="0">
              <a:buNone/>
            </a:pPr>
            <a:r>
              <a:rPr lang="en-US" altLang="en-US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" panose="02040502050405020303" charset="0"/>
                <a:cs typeface="Georgia" panose="02040502050405020303" charset="0"/>
              </a:rPr>
              <a:t>Solution: </a:t>
            </a:r>
            <a:r>
              <a:rPr lang="en-US" altLang="en-US" sz="1400">
                <a:latin typeface="Georgia" panose="02040502050405020303" charset="0"/>
                <a:cs typeface="Georgia" panose="02040502050405020303" charset="0"/>
              </a:rPr>
              <a:t>Add deeper linguistic and contextual features</a:t>
            </a:r>
            <a:br>
              <a:rPr lang="en-US" altLang="en-US" sz="1400">
                <a:latin typeface="Georgia" panose="02040502050405020303" charset="0"/>
                <a:cs typeface="Georgia" panose="02040502050405020303" charset="0"/>
              </a:rPr>
            </a:br>
            <a:endParaRPr lang="en-US" altLang="en-US" sz="1400">
              <a:latin typeface="Georgia" panose="02040502050405020303" charset="0"/>
              <a:cs typeface="Georgia" panose="02040502050405020303" charset="0"/>
            </a:endParaRPr>
          </a:p>
          <a:p>
            <a:r>
              <a:rPr lang="en-US" altLang="en-US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" panose="02040502050405020303" charset="0"/>
                <a:cs typeface="Georgia" panose="02040502050405020303" charset="0"/>
              </a:rPr>
              <a:t>Weak or Unreliable Labels</a:t>
            </a:r>
            <a:endParaRPr lang="en-US" altLang="en-US" sz="1400">
              <a:latin typeface="Georgia" panose="02040502050405020303" charset="0"/>
              <a:cs typeface="Georgia" panose="02040502050405020303" charset="0"/>
            </a:endParaRPr>
          </a:p>
          <a:p>
            <a:pPr marL="0" indent="0">
              <a:buNone/>
            </a:pPr>
            <a:r>
              <a:rPr lang="en-US" altLang="en-US" sz="1400">
                <a:latin typeface="Georgia" panose="02040502050405020303" charset="0"/>
                <a:cs typeface="Georgia" panose="02040502050405020303" charset="0"/>
              </a:rPr>
              <a:t>True diagnosis requires professionals; online labels may be noisy</a:t>
            </a:r>
            <a:endParaRPr lang="en-US" altLang="en-US" sz="1400">
              <a:latin typeface="Georgia" panose="02040502050405020303" charset="0"/>
              <a:cs typeface="Georgia" panose="02040502050405020303" charset="0"/>
            </a:endParaRPr>
          </a:p>
          <a:p>
            <a:pPr marL="0" indent="0">
              <a:buNone/>
            </a:pPr>
            <a:r>
              <a:rPr lang="en-US" altLang="en-US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" panose="02040502050405020303" charset="0"/>
                <a:cs typeface="Georgia" panose="02040502050405020303" charset="0"/>
              </a:rPr>
              <a:t>Solution:</a:t>
            </a:r>
            <a:r>
              <a:rPr lang="en-US" altLang="en-US" sz="1400">
                <a:latin typeface="Georgia" panose="02040502050405020303" charset="0"/>
                <a:cs typeface="Georgia" panose="02040502050405020303" charset="0"/>
              </a:rPr>
              <a:t> Mix self-report + expert review; validate small samples</a:t>
            </a:r>
            <a:endParaRPr lang="en-US" altLang="en-US" sz="1400">
              <a:latin typeface="Georgia" panose="02040502050405020303" charset="0"/>
              <a:cs typeface="Georgia" panose="02040502050405020303" charset="0"/>
            </a:endParaRPr>
          </a:p>
          <a:p>
            <a:pPr marL="0" indent="0">
              <a:buNone/>
            </a:pPr>
            <a:endParaRPr lang="en-US" altLang="en-US" sz="1400">
              <a:latin typeface="Georgia" panose="02040502050405020303" charset="0"/>
              <a:cs typeface="Georgia" panose="02040502050405020303" charset="0"/>
            </a:endParaRPr>
          </a:p>
          <a:p>
            <a:r>
              <a:rPr lang="en-US" altLang="en-US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" panose="02040502050405020303" charset="0"/>
                <a:cs typeface="Georgia" panose="02040502050405020303" charset="0"/>
              </a:rPr>
              <a:t>Lack of Context</a:t>
            </a:r>
            <a:endParaRPr lang="en-US" altLang="en-US" sz="1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Georgia" panose="02040502050405020303" charset="0"/>
              <a:cs typeface="Georgia" panose="02040502050405020303" charset="0"/>
            </a:endParaRPr>
          </a:p>
          <a:p>
            <a:pPr marL="0" indent="0">
              <a:buNone/>
            </a:pPr>
            <a:r>
              <a:rPr lang="en-US" altLang="en-US" sz="1400">
                <a:latin typeface="Georgia" panose="02040502050405020303" charset="0"/>
                <a:cs typeface="Georgia" panose="02040502050405020303" charset="0"/>
              </a:rPr>
              <a:t>Single posts do not reflect long-term depression</a:t>
            </a:r>
            <a:endParaRPr lang="en-US" altLang="en-US" sz="1400">
              <a:latin typeface="Georgia" panose="02040502050405020303" charset="0"/>
              <a:cs typeface="Georgia" panose="02040502050405020303" charset="0"/>
            </a:endParaRPr>
          </a:p>
          <a:p>
            <a:pPr marL="0" indent="0">
              <a:buNone/>
            </a:pPr>
            <a:r>
              <a:rPr lang="en-US" altLang="en-US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" panose="02040502050405020303" charset="0"/>
                <a:cs typeface="Georgia" panose="02040502050405020303" charset="0"/>
              </a:rPr>
              <a:t>Solution</a:t>
            </a:r>
            <a:r>
              <a:rPr lang="en-US" altLang="en-US" sz="1400">
                <a:latin typeface="Georgia" panose="02040502050405020303" charset="0"/>
                <a:cs typeface="Georgia" panose="02040502050405020303" charset="0"/>
              </a:rPr>
              <a:t>: Use multi-post or time-based analysis when possible</a:t>
            </a:r>
            <a:endParaRPr lang="en-US" altLang="en-US" sz="1400">
              <a:latin typeface="Georgia" panose="02040502050405020303" charset="0"/>
              <a:cs typeface="Georgia" panose="02040502050405020303" charset="0"/>
            </a:endParaRPr>
          </a:p>
          <a:p>
            <a:pPr marL="0" indent="0">
              <a:buNone/>
            </a:pPr>
            <a:endParaRPr lang="en-US" altLang="en-US" sz="1400">
              <a:latin typeface="Georgia" panose="02040502050405020303" charset="0"/>
              <a:cs typeface="Georgia" panose="02040502050405020303" charset="0"/>
            </a:endParaRPr>
          </a:p>
          <a:p>
            <a:r>
              <a:rPr lang="en-US" altLang="en-US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" panose="02040502050405020303" charset="0"/>
                <a:cs typeface="Georgia" panose="02040502050405020303" charset="0"/>
              </a:rPr>
              <a:t>Temporal Drift</a:t>
            </a:r>
            <a:endParaRPr lang="en-US" altLang="en-US" sz="1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Georgia" panose="02040502050405020303" charset="0"/>
              <a:cs typeface="Georgia" panose="02040502050405020303" charset="0"/>
            </a:endParaRPr>
          </a:p>
          <a:p>
            <a:pPr marL="0" indent="0">
              <a:buNone/>
            </a:pPr>
            <a:r>
              <a:rPr lang="en-US" altLang="en-US" sz="1400">
                <a:latin typeface="Georgia" panose="02040502050405020303" charset="0"/>
                <a:cs typeface="Georgia" panose="02040502050405020303" charset="0"/>
              </a:rPr>
              <a:t>Language and mental-health trends change over time</a:t>
            </a:r>
            <a:endParaRPr lang="en-US" altLang="en-US" sz="1400">
              <a:latin typeface="Georgia" panose="02040502050405020303" charset="0"/>
              <a:cs typeface="Georgia" panose="02040502050405020303" charset="0"/>
            </a:endParaRPr>
          </a:p>
          <a:p>
            <a:pPr marL="0" indent="0">
              <a:buNone/>
            </a:pPr>
            <a:r>
              <a:rPr lang="en-US" altLang="en-US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" panose="02040502050405020303" charset="0"/>
                <a:cs typeface="Georgia" panose="02040502050405020303" charset="0"/>
              </a:rPr>
              <a:t>Solution</a:t>
            </a:r>
            <a:r>
              <a:rPr lang="en-US" altLang="en-US" sz="1400">
                <a:latin typeface="Georgia" panose="02040502050405020303" charset="0"/>
                <a:cs typeface="Georgia" panose="02040502050405020303" charset="0"/>
              </a:rPr>
              <a:t>: Re-train and monitor models regularly</a:t>
            </a:r>
            <a:endParaRPr lang="en-US" altLang="en-US" sz="1400">
              <a:latin typeface="Georgia" panose="02040502050405020303" charset="0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396423" y="1259633"/>
            <a:ext cx="5040000" cy="1848190"/>
          </a:xfrm>
        </p:spPr>
        <p:txBody>
          <a:bodyPr wrap="square" lIns="0" tIns="0" rIns="0" bIns="0" anchor="b">
            <a:normAutofit/>
          </a:bodyPr>
          <a:lstStyle/>
          <a:p>
            <a:pPr algn="l"/>
            <a:r>
              <a:rPr lang="en-US" sz="3600" spc="0" dirty="0"/>
              <a:t>Your title here</a:t>
            </a:r>
            <a:endParaRPr lang="en-US" sz="3600" spc="0" dirty="0"/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2" r="28106"/>
          <a:stretch>
            <a:fillRect/>
          </a:stretch>
        </p:blipFill>
        <p:spPr>
          <a:xfrm>
            <a:off x="635" y="-6985"/>
            <a:ext cx="6448686" cy="6858000"/>
          </a:xfrm>
          <a:custGeom>
            <a:avLst/>
            <a:gdLst>
              <a:gd name="connsiteX0" fmla="*/ 2202905 w 6448686"/>
              <a:gd name="connsiteY0" fmla="*/ 4824730 h 6858000"/>
              <a:gd name="connsiteX1" fmla="*/ 4035589 w 6448686"/>
              <a:gd name="connsiteY1" fmla="*/ 6657340 h 6858000"/>
              <a:gd name="connsiteX2" fmla="*/ 3834305 w 6448686"/>
              <a:gd name="connsiteY2" fmla="*/ 6858000 h 6858000"/>
              <a:gd name="connsiteX3" fmla="*/ 570253 w 6448686"/>
              <a:gd name="connsiteY3" fmla="*/ 6858000 h 6858000"/>
              <a:gd name="connsiteX4" fmla="*/ 369585 w 6448686"/>
              <a:gd name="connsiteY4" fmla="*/ 6657340 h 6858000"/>
              <a:gd name="connsiteX5" fmla="*/ 189238 w 6448686"/>
              <a:gd name="connsiteY5" fmla="*/ 2811145 h 6858000"/>
              <a:gd name="connsiteX6" fmla="*/ 2021922 w 6448686"/>
              <a:gd name="connsiteY6" fmla="*/ 4643755 h 6858000"/>
              <a:gd name="connsiteX7" fmla="*/ 188603 w 6448686"/>
              <a:gd name="connsiteY7" fmla="*/ 6476365 h 6858000"/>
              <a:gd name="connsiteX8" fmla="*/ 0 w 6448686"/>
              <a:gd name="connsiteY8" fmla="*/ 6287770 h 6858000"/>
              <a:gd name="connsiteX9" fmla="*/ 0 w 6448686"/>
              <a:gd name="connsiteY9" fmla="*/ 3000375 h 6858000"/>
              <a:gd name="connsiteX10" fmla="*/ 3163063 w 6448686"/>
              <a:gd name="connsiteY10" fmla="*/ 1806575 h 6858000"/>
              <a:gd name="connsiteX11" fmla="*/ 4995747 w 6448686"/>
              <a:gd name="connsiteY11" fmla="*/ 3639185 h 6858000"/>
              <a:gd name="connsiteX12" fmla="*/ 3162428 w 6448686"/>
              <a:gd name="connsiteY12" fmla="*/ 5471795 h 6858000"/>
              <a:gd name="connsiteX13" fmla="*/ 1329744 w 6448686"/>
              <a:gd name="connsiteY13" fmla="*/ 3639185 h 6858000"/>
              <a:gd name="connsiteX14" fmla="*/ 3897153 w 6448686"/>
              <a:gd name="connsiteY14" fmla="*/ 0 h 6858000"/>
              <a:gd name="connsiteX15" fmla="*/ 5334851 w 6448686"/>
              <a:gd name="connsiteY15" fmla="*/ 0 h 6858000"/>
              <a:gd name="connsiteX16" fmla="*/ 6448686 w 6448686"/>
              <a:gd name="connsiteY16" fmla="*/ 1113790 h 6858000"/>
              <a:gd name="connsiteX17" fmla="*/ 4616002 w 6448686"/>
              <a:gd name="connsiteY17" fmla="*/ 2946400 h 6858000"/>
              <a:gd name="connsiteX18" fmla="*/ 2783318 w 6448686"/>
              <a:gd name="connsiteY18" fmla="*/ 1113790 h 6858000"/>
              <a:gd name="connsiteX19" fmla="*/ 1668848 w 6448686"/>
              <a:gd name="connsiteY19" fmla="*/ 0 h 6858000"/>
              <a:gd name="connsiteX20" fmla="*/ 3495182 w 6448686"/>
              <a:gd name="connsiteY20" fmla="*/ 0 h 6858000"/>
              <a:gd name="connsiteX21" fmla="*/ 2582015 w 6448686"/>
              <a:gd name="connsiteY21" fmla="*/ 913130 h 6858000"/>
              <a:gd name="connsiteX22" fmla="*/ 942378 w 6448686"/>
              <a:gd name="connsiteY22" fmla="*/ 0 h 6858000"/>
              <a:gd name="connsiteX23" fmla="*/ 1356415 w 6448686"/>
              <a:gd name="connsiteY23" fmla="*/ 0 h 6858000"/>
              <a:gd name="connsiteX24" fmla="*/ 2982081 w 6448686"/>
              <a:gd name="connsiteY24" fmla="*/ 1625600 h 6858000"/>
              <a:gd name="connsiteX25" fmla="*/ 1148762 w 6448686"/>
              <a:gd name="connsiteY25" fmla="*/ 3458210 h 6858000"/>
              <a:gd name="connsiteX26" fmla="*/ 0 w 6448686"/>
              <a:gd name="connsiteY26" fmla="*/ 2309495 h 6858000"/>
              <a:gd name="connsiteX27" fmla="*/ 0 w 6448686"/>
              <a:gd name="connsiteY27" fmla="*/ 942340 h 6858000"/>
              <a:gd name="connsiteX28" fmla="*/ 0 w 6448686"/>
              <a:gd name="connsiteY28" fmla="*/ 0 h 6858000"/>
              <a:gd name="connsiteX29" fmla="*/ 578509 w 6448686"/>
              <a:gd name="connsiteY29" fmla="*/ 0 h 6858000"/>
              <a:gd name="connsiteX30" fmla="*/ 0 w 6448686"/>
              <a:gd name="connsiteY30" fmla="*/ 57848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6448686" h="6858000">
                <a:moveTo>
                  <a:pt x="2202905" y="4824730"/>
                </a:moveTo>
                <a:lnTo>
                  <a:pt x="4035589" y="6657340"/>
                </a:lnTo>
                <a:lnTo>
                  <a:pt x="3834305" y="6858000"/>
                </a:lnTo>
                <a:lnTo>
                  <a:pt x="570253" y="6858000"/>
                </a:lnTo>
                <a:lnTo>
                  <a:pt x="369585" y="6657340"/>
                </a:lnTo>
                <a:close/>
                <a:moveTo>
                  <a:pt x="189238" y="2811145"/>
                </a:moveTo>
                <a:lnTo>
                  <a:pt x="2021922" y="4643755"/>
                </a:lnTo>
                <a:lnTo>
                  <a:pt x="188603" y="6476365"/>
                </a:lnTo>
                <a:lnTo>
                  <a:pt x="0" y="6287770"/>
                </a:lnTo>
                <a:lnTo>
                  <a:pt x="0" y="3000375"/>
                </a:lnTo>
                <a:close/>
                <a:moveTo>
                  <a:pt x="3163063" y="1806575"/>
                </a:moveTo>
                <a:lnTo>
                  <a:pt x="4995747" y="3639185"/>
                </a:lnTo>
                <a:lnTo>
                  <a:pt x="3162428" y="5471795"/>
                </a:lnTo>
                <a:lnTo>
                  <a:pt x="1329744" y="3639185"/>
                </a:lnTo>
                <a:close/>
                <a:moveTo>
                  <a:pt x="3897153" y="0"/>
                </a:moveTo>
                <a:lnTo>
                  <a:pt x="5334851" y="0"/>
                </a:lnTo>
                <a:lnTo>
                  <a:pt x="6448686" y="1113790"/>
                </a:lnTo>
                <a:lnTo>
                  <a:pt x="4616002" y="2946400"/>
                </a:lnTo>
                <a:lnTo>
                  <a:pt x="2783318" y="1113790"/>
                </a:lnTo>
                <a:close/>
                <a:moveTo>
                  <a:pt x="1668848" y="0"/>
                </a:moveTo>
                <a:lnTo>
                  <a:pt x="3495182" y="0"/>
                </a:lnTo>
                <a:lnTo>
                  <a:pt x="2582015" y="913130"/>
                </a:lnTo>
                <a:close/>
                <a:moveTo>
                  <a:pt x="942378" y="0"/>
                </a:moveTo>
                <a:lnTo>
                  <a:pt x="1356415" y="0"/>
                </a:lnTo>
                <a:lnTo>
                  <a:pt x="2982081" y="1625600"/>
                </a:lnTo>
                <a:lnTo>
                  <a:pt x="1148762" y="3458210"/>
                </a:lnTo>
                <a:lnTo>
                  <a:pt x="0" y="2309495"/>
                </a:lnTo>
                <a:lnTo>
                  <a:pt x="0" y="942340"/>
                </a:lnTo>
                <a:close/>
                <a:moveTo>
                  <a:pt x="0" y="0"/>
                </a:moveTo>
                <a:lnTo>
                  <a:pt x="578509" y="0"/>
                </a:lnTo>
                <a:lnTo>
                  <a:pt x="0" y="578485"/>
                </a:lnTo>
                <a:close/>
              </a:path>
            </a:pathLst>
          </a:custGeom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" name="矩形 1"/>
          <p:cNvSpPr/>
          <p:nvPr>
            <p:custDataLst>
              <p:tags r:id="rId4"/>
            </p:custDataLst>
          </p:nvPr>
        </p:nvSpPr>
        <p:spPr>
          <a:xfrm>
            <a:off x="5970905" y="1449705"/>
            <a:ext cx="6034405" cy="4525645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u="sng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charset="0"/>
                <a:cs typeface="Georgia" panose="02040502050405020303" charset="0"/>
                <a:sym typeface="+mn-ea"/>
              </a:rPr>
              <a:t>Step-by-Step Flow:</a:t>
            </a:r>
            <a:endParaRPr lang="en-US" altLang="en-US" sz="1600" b="1" u="sng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IN" altLang="en-US" sz="13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rgia" panose="02040502050405020303" charset="0"/>
                <a:cs typeface="Georgia" panose="02040502050405020303" charset="0"/>
                <a:sym typeface="+mn-ea"/>
              </a:rPr>
              <a:t>Installation</a:t>
            </a:r>
            <a:r>
              <a:rPr lang="en-IN" altLang="en-US" sz="13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charset="0"/>
                <a:cs typeface="Georgia" panose="02040502050405020303" charset="0"/>
                <a:sym typeface="+mn-ea"/>
              </a:rPr>
              <a:t> and Setup.</a:t>
            </a:r>
            <a:endParaRPr lang="en-US" altLang="en-US" sz="1300" u="sng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sz="13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rgia" panose="02040502050405020303" charset="0"/>
                <a:cs typeface="Georgia" panose="02040502050405020303" charset="0"/>
                <a:sym typeface="+mn-ea"/>
              </a:rPr>
              <a:t>Authenticate</a:t>
            </a:r>
            <a:r>
              <a:rPr lang="en-US" altLang="en-US" sz="1300" dirty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rgia" panose="02040502050405020303" charset="0"/>
                <a:cs typeface="Georgia" panose="02040502050405020303" charset="0"/>
                <a:sym typeface="+mn-ea"/>
              </a:rPr>
              <a:t> </a:t>
            </a:r>
            <a:r>
              <a:rPr lang="en-US" altLang="en-US" sz="13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charset="0"/>
                <a:cs typeface="Georgia" panose="02040502050405020303" charset="0"/>
                <a:sym typeface="+mn-ea"/>
              </a:rPr>
              <a:t>Reddit API using credentials.</a:t>
            </a:r>
            <a:endParaRPr lang="en-US" altLang="en-US" sz="13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IN" altLang="en-US" sz="13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charset="0"/>
                <a:cs typeface="Georgia" panose="02040502050405020303" charset="0"/>
                <a:sym typeface="+mn-ea"/>
              </a:rPr>
              <a:t>Using </a:t>
            </a:r>
            <a:r>
              <a:rPr lang="en-IN" altLang="en-US" sz="13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rgia" panose="02040502050405020303" charset="0"/>
                <a:cs typeface="Georgia" panose="02040502050405020303" charset="0"/>
                <a:sym typeface="+mn-ea"/>
              </a:rPr>
              <a:t>pre-trained Model(</a:t>
            </a:r>
            <a:r>
              <a:rPr lang="en-US" altLang="en-US" sz="13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charset="0"/>
                <a:cs typeface="Georgia" panose="02040502050405020303" charset="0"/>
                <a:sym typeface="+mn-ea"/>
              </a:rPr>
              <a:t>distilroberta</a:t>
            </a:r>
            <a:r>
              <a:rPr lang="en-IN" altLang="en-US" sz="13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charset="0"/>
                <a:cs typeface="Georgia" panose="02040502050405020303" charset="0"/>
                <a:sym typeface="+mn-ea"/>
              </a:rPr>
              <a:t>) to label the raw data.</a:t>
            </a:r>
            <a:endParaRPr lang="en-US" altLang="en-US" sz="13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sz="13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rgia" panose="02040502050405020303" charset="0"/>
                <a:cs typeface="Georgia" panose="02040502050405020303" charset="0"/>
                <a:sym typeface="+mn-ea"/>
              </a:rPr>
              <a:t>Load</a:t>
            </a:r>
            <a:r>
              <a:rPr lang="en-US" altLang="en-US" sz="13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charset="0"/>
                <a:cs typeface="Georgia" panose="02040502050405020303" charset="0"/>
                <a:sym typeface="+mn-ea"/>
              </a:rPr>
              <a:t> existing data from CSV — if not found, scrape Reddit (depression + control subreddits).</a:t>
            </a:r>
            <a:endParaRPr lang="en-US" altLang="en-US" sz="13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sz="13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charset="0"/>
                <a:cs typeface="Georgia" panose="02040502050405020303" charset="0"/>
                <a:sym typeface="+mn-ea"/>
              </a:rPr>
              <a:t>Explore dataset using</a:t>
            </a:r>
            <a:r>
              <a:rPr lang="en-US" altLang="en-US" sz="13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rgia" panose="02040502050405020303" charset="0"/>
                <a:cs typeface="Georgia" panose="02040502050405020303" charset="0"/>
                <a:sym typeface="+mn-ea"/>
              </a:rPr>
              <a:t> DataVisualizer</a:t>
            </a:r>
            <a:endParaRPr lang="en-US" altLang="en-US" sz="13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sz="13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rgia" panose="02040502050405020303" charset="0"/>
                <a:cs typeface="Georgia" panose="02040502050405020303" charset="0"/>
                <a:sym typeface="+mn-ea"/>
              </a:rPr>
              <a:t>Initialize</a:t>
            </a:r>
            <a:r>
              <a:rPr lang="en-US" altLang="en-US" sz="13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charset="0"/>
                <a:cs typeface="Georgia" panose="02040502050405020303" charset="0"/>
                <a:sym typeface="+mn-ea"/>
              </a:rPr>
              <a:t> the depression detection model.</a:t>
            </a:r>
            <a:endParaRPr lang="en-US" altLang="en-US" sz="13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sz="13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rgia" panose="02040502050405020303" charset="0"/>
                <a:cs typeface="Georgia" panose="02040502050405020303" charset="0"/>
                <a:sym typeface="+mn-ea"/>
              </a:rPr>
              <a:t>Train and evaluate model</a:t>
            </a:r>
            <a:r>
              <a:rPr lang="en-US" altLang="en-US" sz="13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charset="0"/>
                <a:cs typeface="Georgia" panose="02040502050405020303" charset="0"/>
                <a:sym typeface="+mn-ea"/>
              </a:rPr>
              <a:t> (Logistic Regression, Random Forest, SVM) with an 80–20 train–test split.</a:t>
            </a:r>
            <a:endParaRPr lang="en-US" altLang="en-US" sz="13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sz="13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rgia" panose="02040502050405020303" charset="0"/>
                <a:cs typeface="Georgia" panose="02040502050405020303" charset="0"/>
                <a:sym typeface="+mn-ea"/>
              </a:rPr>
              <a:t>Visualize</a:t>
            </a:r>
            <a:r>
              <a:rPr lang="en-US" altLang="en-US" sz="13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charset="0"/>
                <a:cs typeface="Georgia" panose="02040502050405020303" charset="0"/>
                <a:sym typeface="+mn-ea"/>
              </a:rPr>
              <a:t> results (accuracy, F1, AUC, confusion matrices).</a:t>
            </a:r>
            <a:endParaRPr lang="en-US" altLang="en-US" sz="13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sz="13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rgia" panose="02040502050405020303" charset="0"/>
                <a:cs typeface="Georgia" panose="02040502050405020303" charset="0"/>
                <a:sym typeface="+mn-ea"/>
              </a:rPr>
              <a:t>Analyze</a:t>
            </a:r>
            <a:r>
              <a:rPr lang="en-US" altLang="en-US" sz="1300" dirty="0">
                <a:ln>
                  <a:solidFill>
                    <a:srgbClr val="FF0000"/>
                  </a:solidFill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charset="0"/>
                <a:cs typeface="Georgia" panose="02040502050405020303" charset="0"/>
                <a:sym typeface="+mn-ea"/>
              </a:rPr>
              <a:t> </a:t>
            </a:r>
            <a:r>
              <a:rPr lang="en-US" altLang="en-US" sz="13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charset="0"/>
                <a:cs typeface="Georgia" panose="02040502050405020303" charset="0"/>
                <a:sym typeface="+mn-ea"/>
              </a:rPr>
              <a:t>top important features (e.g., “hopeless”, “I”, “tired”).</a:t>
            </a:r>
            <a:endParaRPr lang="en-US" altLang="en-US" sz="13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sz="13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rgia" panose="02040502050405020303" charset="0"/>
                <a:cs typeface="Georgia" panose="02040502050405020303" charset="0"/>
                <a:sym typeface="+mn-ea"/>
              </a:rPr>
              <a:t>Test</a:t>
            </a:r>
            <a:r>
              <a:rPr lang="en-US" altLang="en-US" sz="13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charset="0"/>
                <a:cs typeface="Georgia" panose="02040502050405020303" charset="0"/>
                <a:sym typeface="+mn-ea"/>
              </a:rPr>
              <a:t> model on sample texts and print depression probabilities + linguistic feature values.</a:t>
            </a:r>
            <a:endParaRPr lang="en-US" altLang="en-US" sz="13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sz="13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rgia" panose="02040502050405020303" charset="0"/>
                <a:cs typeface="Georgia" panose="02040502050405020303" charset="0"/>
                <a:sym typeface="+mn-ea"/>
              </a:rPr>
              <a:t>Print</a:t>
            </a:r>
            <a:r>
              <a:rPr lang="en-US" altLang="en-US" sz="1300" dirty="0">
                <a:ln>
                  <a:solidFill>
                    <a:srgbClr val="FF0000"/>
                  </a:solidFill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charset="0"/>
                <a:cs typeface="Georgia" panose="02040502050405020303" charset="0"/>
                <a:sym typeface="+mn-ea"/>
              </a:rPr>
              <a:t> </a:t>
            </a:r>
            <a:r>
              <a:rPr lang="en-US" altLang="en-US" sz="13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charset="0"/>
                <a:cs typeface="Georgia" panose="02040502050405020303" charset="0"/>
                <a:sym typeface="+mn-ea"/>
              </a:rPr>
              <a:t>best-performing model summary.</a:t>
            </a:r>
            <a:endParaRPr lang="en-US" altLang="en-US" sz="13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Georgia" panose="02040502050405020303" charset="0"/>
              <a:cs typeface="Georgia" panose="02040502050405020303" charset="0"/>
              <a:sym typeface="+mn-ea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sz="13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charset="0"/>
                <a:cs typeface="Georgia" panose="02040502050405020303" charset="0"/>
                <a:sym typeface="+mn-ea"/>
              </a:rPr>
              <a:t>Return: model, results, and data.</a:t>
            </a:r>
            <a:endParaRPr lang="en-US" altLang="en-US" sz="13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Georgia" panose="02040502050405020303" charset="0"/>
              <a:cs typeface="Georgia" panose="02040502050405020303" charset="0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Reddit Data Collection</a:t>
            </a:r>
            <a:endParaRPr lang="en-IN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269875" y="1085850"/>
            <a:ext cx="11921490" cy="554863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ts val="1140"/>
              </a:lnSpc>
            </a:pPr>
            <a:endParaRPr sz="1600" b="0">
              <a:solidFill>
                <a:srgbClr val="82C6FF"/>
              </a:solidFill>
              <a:latin typeface="monospace"/>
              <a:ea typeface="monospace"/>
            </a:endParaRPr>
          </a:p>
          <a:p>
            <a:pPr>
              <a:lnSpc>
                <a:spcPts val="1140"/>
              </a:lnSpc>
            </a:pPr>
            <a:r>
              <a:rPr sz="1600" b="1">
                <a:solidFill>
                  <a:srgbClr val="82C6FF"/>
                </a:solidFill>
                <a:latin typeface="Georgia" panose="02040502050405020303" charset="0"/>
                <a:ea typeface="monospace"/>
                <a:cs typeface="Georgia" panose="02040502050405020303" charset="0"/>
              </a:rPr>
              <a:t>1. Installation &amp; Setup</a:t>
            </a:r>
            <a:endParaRPr sz="1600" b="1">
              <a:solidFill>
                <a:srgbClr val="82C6FF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>
              <a:lnSpc>
                <a:spcPts val="1140"/>
              </a:lnSpc>
            </a:pPr>
            <a:endParaRPr sz="1600" b="0">
              <a:solidFill>
                <a:srgbClr val="82C6FF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>
              <a:lnSpc>
                <a:spcPts val="1140"/>
              </a:lnSpc>
            </a:pPr>
            <a:r>
              <a:rPr sz="1200" b="0">
                <a:solidFill>
                  <a:schemeClr val="tx1"/>
                </a:solidFill>
                <a:latin typeface="Georgia" panose="02040502050405020303" charset="0"/>
                <a:ea typeface="monospace"/>
                <a:cs typeface="Georgia" panose="02040502050405020303" charset="0"/>
              </a:rPr>
              <a:t>Install required packages: praw, textstat, spacy, matplotlib, seaborn, wordcloud</a:t>
            </a:r>
            <a:endParaRPr sz="1200" b="0">
              <a:solidFill>
                <a:schemeClr val="tx1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>
              <a:lnSpc>
                <a:spcPts val="1140"/>
              </a:lnSpc>
            </a:pPr>
            <a:r>
              <a:rPr sz="1200" b="0">
                <a:solidFill>
                  <a:schemeClr val="tx1"/>
                </a:solidFill>
                <a:latin typeface="Georgia" panose="02040502050405020303" charset="0"/>
                <a:ea typeface="monospace"/>
                <a:cs typeface="Georgia" panose="02040502050405020303" charset="0"/>
              </a:rPr>
              <a:t>Download spaCy English language model</a:t>
            </a:r>
            <a:endParaRPr sz="1200" b="0">
              <a:solidFill>
                <a:schemeClr val="tx1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>
              <a:lnSpc>
                <a:spcPts val="1140"/>
              </a:lnSpc>
            </a:pPr>
            <a:r>
              <a:rPr sz="1200" b="0">
                <a:solidFill>
                  <a:schemeClr val="tx1"/>
                </a:solidFill>
                <a:latin typeface="Georgia" panose="02040502050405020303" charset="0"/>
                <a:ea typeface="monospace"/>
                <a:cs typeface="Georgia" panose="02040502050405020303" charset="0"/>
              </a:rPr>
              <a:t>Import necessary libraries</a:t>
            </a:r>
            <a:endParaRPr sz="1200" b="0">
              <a:solidFill>
                <a:schemeClr val="tx1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>
              <a:lnSpc>
                <a:spcPts val="1140"/>
              </a:lnSpc>
            </a:pPr>
            <a:endParaRPr sz="1600" b="0">
              <a:solidFill>
                <a:srgbClr val="D4D4D4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>
              <a:lnSpc>
                <a:spcPts val="1140"/>
              </a:lnSpc>
            </a:pPr>
            <a:r>
              <a:rPr sz="1600" b="1">
                <a:solidFill>
                  <a:srgbClr val="82C6FF"/>
                </a:solidFill>
                <a:latin typeface="Georgia" panose="02040502050405020303" charset="0"/>
                <a:ea typeface="monospace"/>
                <a:cs typeface="Georgia" panose="02040502050405020303" charset="0"/>
              </a:rPr>
              <a:t>2. Reddit API Configuration</a:t>
            </a:r>
            <a:endParaRPr sz="1600" b="1">
              <a:solidFill>
                <a:srgbClr val="82C6FF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>
              <a:lnSpc>
                <a:spcPts val="1140"/>
              </a:lnSpc>
            </a:pPr>
            <a:endParaRPr sz="1200" b="0">
              <a:solidFill>
                <a:schemeClr val="tx1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>
              <a:lnSpc>
                <a:spcPts val="1140"/>
              </a:lnSpc>
            </a:pPr>
            <a:r>
              <a:rPr sz="1200" b="0">
                <a:solidFill>
                  <a:schemeClr val="tx1"/>
                </a:solidFill>
                <a:latin typeface="Georgia" panose="02040502050405020303" charset="0"/>
                <a:ea typeface="monospace"/>
                <a:cs typeface="Georgia" panose="02040502050405020303" charset="0"/>
              </a:rPr>
              <a:t>Initialize PRAW Reddit instance with API credentials</a:t>
            </a:r>
            <a:endParaRPr sz="1200" b="0">
              <a:solidFill>
                <a:schemeClr val="tx1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>
              <a:lnSpc>
                <a:spcPts val="1140"/>
              </a:lnSpc>
            </a:pPr>
            <a:r>
              <a:rPr sz="1200" b="0">
                <a:solidFill>
                  <a:schemeClr val="tx1"/>
                </a:solidFill>
                <a:latin typeface="Georgia" panose="02040502050405020303" charset="0"/>
                <a:ea typeface="monospace"/>
                <a:cs typeface="Georgia" panose="02040502050405020303" charset="0"/>
              </a:rPr>
              <a:t>Set up client ID, client secret, and user agent</a:t>
            </a:r>
            <a:endParaRPr sz="1200" b="0">
              <a:solidFill>
                <a:schemeClr val="tx1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>
              <a:lnSpc>
                <a:spcPts val="1140"/>
              </a:lnSpc>
            </a:pPr>
            <a:endParaRPr sz="1600" b="0">
              <a:solidFill>
                <a:srgbClr val="D4D4D4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>
              <a:lnSpc>
                <a:spcPts val="1140"/>
              </a:lnSpc>
            </a:pPr>
            <a:r>
              <a:rPr sz="1600" b="1">
                <a:solidFill>
                  <a:srgbClr val="82C6FF"/>
                </a:solidFill>
                <a:latin typeface="Georgia" panose="02040502050405020303" charset="0"/>
                <a:ea typeface="monospace"/>
                <a:cs typeface="Georgia" panose="02040502050405020303" charset="0"/>
              </a:rPr>
              <a:t>3. Subreddit Selection</a:t>
            </a:r>
            <a:endParaRPr sz="1600" b="1">
              <a:solidFill>
                <a:srgbClr val="82C6FF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>
              <a:lnSpc>
                <a:spcPts val="1140"/>
              </a:lnSpc>
            </a:pPr>
            <a:endParaRPr sz="1200" b="0">
              <a:solidFill>
                <a:schemeClr val="tx1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>
              <a:lnSpc>
                <a:spcPts val="1140"/>
              </a:lnSpc>
            </a:pPr>
            <a:r>
              <a:rPr sz="1200" b="0">
                <a:solidFill>
                  <a:schemeClr val="tx1"/>
                </a:solidFill>
                <a:latin typeface="Georgia" panose="02040502050405020303" charset="0"/>
                <a:ea typeface="monospace"/>
                <a:cs typeface="Georgia" panose="02040502050405020303" charset="0"/>
              </a:rPr>
              <a:t>Define depression-related subreddits: depression, SuicideWatch, mentalhealth, Anxiety, CPTSD</a:t>
            </a:r>
            <a:endParaRPr sz="1200" b="0">
              <a:solidFill>
                <a:schemeClr val="tx1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>
              <a:lnSpc>
                <a:spcPts val="1140"/>
              </a:lnSpc>
            </a:pPr>
            <a:r>
              <a:rPr sz="1200" b="0">
                <a:solidFill>
                  <a:schemeClr val="tx1"/>
                </a:solidFill>
                <a:latin typeface="Georgia" panose="02040502050405020303" charset="0"/>
                <a:ea typeface="monospace"/>
                <a:cs typeface="Georgia" panose="02040502050405020303" charset="0"/>
              </a:rPr>
              <a:t>Define neutral/normal subreddits for balanced dataset</a:t>
            </a:r>
            <a:endParaRPr sz="1200" b="0">
              <a:solidFill>
                <a:schemeClr val="tx1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>
              <a:lnSpc>
                <a:spcPts val="1140"/>
              </a:lnSpc>
            </a:pPr>
            <a:r>
              <a:rPr sz="1200" b="0">
                <a:solidFill>
                  <a:schemeClr val="tx1"/>
                </a:solidFill>
                <a:latin typeface="Georgia" panose="02040502050405020303" charset="0"/>
                <a:ea typeface="monospace"/>
                <a:cs typeface="Georgia" panose="02040502050405020303" charset="0"/>
              </a:rPr>
              <a:t>Combine both lists into target subreddits</a:t>
            </a:r>
            <a:endParaRPr sz="1200" b="0">
              <a:solidFill>
                <a:schemeClr val="tx1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>
              <a:lnSpc>
                <a:spcPts val="1140"/>
              </a:lnSpc>
            </a:pPr>
            <a:endParaRPr sz="1600" b="0">
              <a:solidFill>
                <a:srgbClr val="D4D4D4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>
              <a:lnSpc>
                <a:spcPts val="1140"/>
              </a:lnSpc>
            </a:pPr>
            <a:r>
              <a:rPr sz="1600" b="1">
                <a:solidFill>
                  <a:srgbClr val="82C6FF"/>
                </a:solidFill>
                <a:latin typeface="Georgia" panose="02040502050405020303" charset="0"/>
                <a:ea typeface="monospace"/>
                <a:cs typeface="Georgia" panose="02040502050405020303" charset="0"/>
              </a:rPr>
              <a:t>4. Data Collection</a:t>
            </a:r>
            <a:endParaRPr sz="1600" b="1">
              <a:solidFill>
                <a:srgbClr val="82C6FF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>
              <a:lnSpc>
                <a:spcPts val="1140"/>
              </a:lnSpc>
            </a:pPr>
            <a:endParaRPr sz="1200" b="0">
              <a:solidFill>
                <a:schemeClr val="tx1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>
              <a:lnSpc>
                <a:spcPts val="1140"/>
              </a:lnSpc>
            </a:pPr>
            <a:r>
              <a:rPr sz="1200" b="0">
                <a:solidFill>
                  <a:schemeClr val="tx1"/>
                </a:solidFill>
                <a:latin typeface="Georgia" panose="02040502050405020303" charset="0"/>
                <a:ea typeface="monospace"/>
                <a:cs typeface="Georgia" panose="02040502050405020303" charset="0"/>
              </a:rPr>
              <a:t>Iterate through each target subreddit</a:t>
            </a:r>
            <a:endParaRPr sz="1200" b="0">
              <a:solidFill>
                <a:schemeClr val="tx1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>
              <a:lnSpc>
                <a:spcPts val="1140"/>
              </a:lnSpc>
            </a:pPr>
            <a:r>
              <a:rPr sz="1200" b="0">
                <a:solidFill>
                  <a:schemeClr val="tx1"/>
                </a:solidFill>
                <a:latin typeface="Georgia" panose="02040502050405020303" charset="0"/>
                <a:ea typeface="monospace"/>
                <a:cs typeface="Georgia" panose="02040502050405020303" charset="0"/>
              </a:rPr>
              <a:t>Apply classification labels: "depression" for mental health subreddits, "normal" for others</a:t>
            </a:r>
            <a:endParaRPr sz="1200" b="0">
              <a:solidFill>
                <a:schemeClr val="tx1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>
              <a:lnSpc>
                <a:spcPts val="1140"/>
              </a:lnSpc>
            </a:pPr>
            <a:r>
              <a:rPr sz="1200" b="0">
                <a:solidFill>
                  <a:schemeClr val="tx1"/>
                </a:solidFill>
                <a:latin typeface="Georgia" panose="02040502050405020303" charset="0"/>
                <a:ea typeface="monospace"/>
                <a:cs typeface="Georgia" panose="02040502050405020303" charset="0"/>
              </a:rPr>
              <a:t>Collect posts using subreddit.hot(limit=300) method</a:t>
            </a:r>
            <a:endParaRPr sz="1200" b="0">
              <a:solidFill>
                <a:schemeClr val="tx1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>
              <a:lnSpc>
                <a:spcPts val="1140"/>
              </a:lnSpc>
            </a:pPr>
            <a:r>
              <a:rPr sz="1200" b="0">
                <a:solidFill>
                  <a:schemeClr val="tx1"/>
                </a:solidFill>
                <a:latin typeface="Georgia" panose="02040502050405020303" charset="0"/>
                <a:ea typeface="monospace"/>
                <a:cs typeface="Georgia" panose="02040502050405020303" charset="0"/>
              </a:rPr>
              <a:t>Filter out empty posts and stickied posts</a:t>
            </a:r>
            <a:endParaRPr sz="1200" b="0">
              <a:solidFill>
                <a:schemeClr val="tx1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>
              <a:lnSpc>
                <a:spcPts val="1140"/>
              </a:lnSpc>
            </a:pPr>
            <a:r>
              <a:rPr sz="1200" b="0">
                <a:solidFill>
                  <a:schemeClr val="tx1"/>
                </a:solidFill>
                <a:latin typeface="Georgia" panose="02040502050405020303" charset="0"/>
                <a:ea typeface="monospace"/>
                <a:cs typeface="Georgia" panose="02040502050405020303" charset="0"/>
              </a:rPr>
              <a:t>Extract post metadata: title, text, timestamp, score, comments, ID, URL</a:t>
            </a:r>
            <a:endParaRPr sz="1200" b="0">
              <a:solidFill>
                <a:schemeClr val="tx1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>
              <a:lnSpc>
                <a:spcPts val="1140"/>
              </a:lnSpc>
            </a:pPr>
            <a:r>
              <a:rPr sz="1200" b="0">
                <a:solidFill>
                  <a:schemeClr val="tx1"/>
                </a:solidFill>
                <a:latin typeface="Georgia" panose="02040502050405020303" charset="0"/>
                <a:ea typeface="monospace"/>
                <a:cs typeface="Georgia" panose="02040502050405020303" charset="0"/>
              </a:rPr>
              <a:t>Implement error handling and rate limiting</a:t>
            </a:r>
            <a:endParaRPr sz="1200" b="0">
              <a:solidFill>
                <a:schemeClr val="tx1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>
              <a:lnSpc>
                <a:spcPts val="1140"/>
              </a:lnSpc>
            </a:pPr>
            <a:endParaRPr sz="1600" b="0">
              <a:solidFill>
                <a:srgbClr val="D4D4D4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>
              <a:lnSpc>
                <a:spcPts val="1140"/>
              </a:lnSpc>
            </a:pPr>
            <a:r>
              <a:rPr sz="1600" b="1">
                <a:solidFill>
                  <a:srgbClr val="82C6FF"/>
                </a:solidFill>
                <a:latin typeface="Georgia" panose="02040502050405020303" charset="0"/>
                <a:ea typeface="monospace"/>
                <a:cs typeface="Georgia" panose="02040502050405020303" charset="0"/>
              </a:rPr>
              <a:t>5. Data Analysis</a:t>
            </a:r>
            <a:endParaRPr sz="1600" b="1">
              <a:solidFill>
                <a:srgbClr val="82C6FF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>
              <a:lnSpc>
                <a:spcPts val="1140"/>
              </a:lnSpc>
            </a:pPr>
            <a:endParaRPr sz="1600" b="0">
              <a:solidFill>
                <a:srgbClr val="82C6FF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>
              <a:lnSpc>
                <a:spcPts val="1140"/>
              </a:lnSpc>
            </a:pPr>
            <a:r>
              <a:rPr sz="1200" b="0">
                <a:solidFill>
                  <a:schemeClr val="tx1"/>
                </a:solidFill>
                <a:latin typeface="Georgia" panose="02040502050405020303" charset="0"/>
                <a:ea typeface="monospace"/>
                <a:cs typeface="Georgia" panose="02040502050405020303" charset="0"/>
              </a:rPr>
              <a:t>Convert collected posts to pandas DataFrame</a:t>
            </a:r>
            <a:endParaRPr sz="1200" b="0">
              <a:solidFill>
                <a:schemeClr val="tx1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>
              <a:lnSpc>
                <a:spcPts val="1140"/>
              </a:lnSpc>
            </a:pPr>
            <a:r>
              <a:rPr sz="1200" b="0">
                <a:solidFill>
                  <a:schemeClr val="tx1"/>
                </a:solidFill>
                <a:latin typeface="Georgia" panose="02040502050405020303" charset="0"/>
                <a:ea typeface="monospace"/>
                <a:cs typeface="Georgia" panose="02040502050405020303" charset="0"/>
              </a:rPr>
              <a:t>Analyze data distribution by label and subreddit</a:t>
            </a:r>
            <a:endParaRPr sz="1200" b="0">
              <a:solidFill>
                <a:schemeClr val="tx1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>
              <a:lnSpc>
                <a:spcPts val="1140"/>
              </a:lnSpc>
            </a:pPr>
            <a:r>
              <a:rPr sz="1200" b="0">
                <a:solidFill>
                  <a:schemeClr val="tx1"/>
                </a:solidFill>
                <a:latin typeface="Georgia" panose="02040502050405020303" charset="0"/>
                <a:ea typeface="monospace"/>
                <a:cs typeface="Georgia" panose="02040502050405020303" charset="0"/>
              </a:rPr>
              <a:t>Display counts of depression vs normal posts</a:t>
            </a:r>
            <a:endParaRPr sz="1200" b="0">
              <a:solidFill>
                <a:schemeClr val="tx1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>
              <a:lnSpc>
                <a:spcPts val="1140"/>
              </a:lnSpc>
            </a:pPr>
            <a:r>
              <a:rPr sz="1200" b="0">
                <a:solidFill>
                  <a:schemeClr val="tx1"/>
                </a:solidFill>
                <a:latin typeface="Georgia" panose="02040502050405020303" charset="0"/>
                <a:ea typeface="monospace"/>
                <a:cs typeface="Georgia" panose="02040502050405020303" charset="0"/>
              </a:rPr>
              <a:t>Show subreddit-wise distribution</a:t>
            </a:r>
            <a:endParaRPr sz="1200" b="0">
              <a:solidFill>
                <a:schemeClr val="tx1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>
              <a:lnSpc>
                <a:spcPts val="1140"/>
              </a:lnSpc>
            </a:pPr>
            <a:endParaRPr sz="1600" b="1">
              <a:solidFill>
                <a:srgbClr val="D4D4D4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>
              <a:lnSpc>
                <a:spcPts val="1140"/>
              </a:lnSpc>
            </a:pPr>
            <a:r>
              <a:rPr sz="1600" b="1">
                <a:solidFill>
                  <a:srgbClr val="82C6FF"/>
                </a:solidFill>
                <a:latin typeface="Georgia" panose="02040502050405020303" charset="0"/>
                <a:ea typeface="monospace"/>
                <a:cs typeface="Georgia" panose="02040502050405020303" charset="0"/>
              </a:rPr>
              <a:t>6. Data Export</a:t>
            </a:r>
            <a:endParaRPr sz="1600" b="1">
              <a:solidFill>
                <a:srgbClr val="82C6FF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>
              <a:lnSpc>
                <a:spcPts val="1140"/>
              </a:lnSpc>
            </a:pPr>
            <a:endParaRPr sz="1200" b="0">
              <a:solidFill>
                <a:schemeClr val="tx1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>
              <a:lnSpc>
                <a:spcPts val="1140"/>
              </a:lnSpc>
            </a:pPr>
            <a:r>
              <a:rPr sz="1200" b="0">
                <a:solidFill>
                  <a:schemeClr val="tx1"/>
                </a:solidFill>
                <a:latin typeface="Georgia" panose="02040502050405020303" charset="0"/>
                <a:ea typeface="monospace"/>
                <a:cs typeface="Georgia" panose="02040502050405020303" charset="0"/>
              </a:rPr>
              <a:t>Save collected data to CSV file: "reddit_posts_balanced.csv"</a:t>
            </a:r>
            <a:endParaRPr sz="1200" b="0">
              <a:solidFill>
                <a:schemeClr val="tx1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>
              <a:lnSpc>
                <a:spcPts val="1140"/>
              </a:lnSpc>
            </a:pPr>
            <a:r>
              <a:rPr sz="1200" b="0">
                <a:solidFill>
                  <a:schemeClr val="tx1"/>
                </a:solidFill>
                <a:latin typeface="Georgia" panose="02040502050405020303" charset="0"/>
                <a:ea typeface="monospace"/>
                <a:cs typeface="Georgia" panose="02040502050405020303" charset="0"/>
              </a:rPr>
              <a:t>Display sample of the collected data</a:t>
            </a:r>
            <a:endParaRPr sz="1200" b="0">
              <a:solidFill>
                <a:schemeClr val="tx1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rcRect t="2306"/>
          <a:stretch>
            <a:fillRect/>
          </a:stretch>
        </p:blipFill>
        <p:spPr>
          <a:xfrm>
            <a:off x="7317105" y="1760855"/>
            <a:ext cx="3990340" cy="3335655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Labelling by Pre-trained Model: </a:t>
            </a:r>
            <a:endParaRPr lang="en-I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6346190" y="4364990"/>
            <a:ext cx="2287905" cy="304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184150" y="1217930"/>
            <a:ext cx="10548620" cy="476440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>
              <a:spcBef>
                <a:spcPts val="500"/>
              </a:spcBef>
              <a:spcAft>
                <a:spcPts val="500"/>
              </a:spcAft>
            </a:pPr>
            <a:r>
              <a:rPr sz="14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Uses</a:t>
            </a:r>
            <a:r>
              <a:rPr sz="1400" b="1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" panose="02040502050405020303" charset="0"/>
                <a:ea typeface="Google Sans Text"/>
                <a:cs typeface="Georgia" panose="02040502050405020303" charset="0"/>
              </a:rPr>
              <a:t> </a:t>
            </a:r>
            <a:r>
              <a:rPr sz="1400" i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" panose="02040502050405020303" charset="0"/>
                <a:ea typeface="Google Sans Text"/>
                <a:cs typeface="Georgia" panose="02040502050405020303" charset="0"/>
              </a:rPr>
              <a:t>j-hartmann/emotion-english-distilroberta-base</a:t>
            </a:r>
            <a:r>
              <a:rPr sz="14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 for emotion detection, with fallback to </a:t>
            </a:r>
            <a:r>
              <a:rPr sz="1400" i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" panose="02040502050405020303" charset="0"/>
                <a:ea typeface="Google Sans Text"/>
                <a:cs typeface="Georgia" panose="02040502050405020303" charset="0"/>
              </a:rPr>
              <a:t>distilbert-base-uncased-finetuned-sst-2-english</a:t>
            </a:r>
            <a:r>
              <a:rPr sz="1400" b="1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 </a:t>
            </a:r>
            <a:r>
              <a:rPr sz="14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(sentiment) if needed.</a:t>
            </a:r>
            <a:endParaRPr sz="1400" b="0" i="0">
              <a:solidFill>
                <a:srgbClr val="1F1F1F"/>
              </a:solidFill>
              <a:latin typeface="Georgia" panose="02040502050405020303" charset="0"/>
              <a:ea typeface="Google Sans Text"/>
              <a:cs typeface="Georgia" panose="02040502050405020303" charset="0"/>
            </a:endParaRPr>
          </a:p>
          <a:p>
            <a:pPr marL="0" indent="0">
              <a:spcBef>
                <a:spcPts val="500"/>
              </a:spcBef>
              <a:spcAft>
                <a:spcPts val="500"/>
              </a:spcAft>
            </a:pPr>
            <a:endParaRPr sz="1400" b="0" i="0">
              <a:solidFill>
                <a:srgbClr val="1F1F1F"/>
              </a:solidFill>
              <a:latin typeface="Georgia" panose="02040502050405020303" charset="0"/>
              <a:ea typeface="Google Sans Text"/>
              <a:cs typeface="Georgia" panose="02040502050405020303" charset="0"/>
            </a:endParaRPr>
          </a:p>
          <a:p>
            <a:pPr marL="0" indent="0">
              <a:spcBef>
                <a:spcPts val="500"/>
              </a:spcBef>
              <a:spcAft>
                <a:spcPts val="500"/>
              </a:spcAft>
            </a:pPr>
            <a:endParaRPr sz="1400" b="0" i="0">
              <a:solidFill>
                <a:srgbClr val="1F1F1F"/>
              </a:solidFill>
              <a:latin typeface="Georgia" panose="02040502050405020303" charset="0"/>
              <a:ea typeface="Google Sans Text"/>
              <a:cs typeface="Georgia" panose="02040502050405020303" charset="0"/>
            </a:endParaRPr>
          </a:p>
          <a:p>
            <a:pPr marL="0" indent="0">
              <a:spcBef>
                <a:spcPts val="500"/>
              </a:spcBef>
              <a:spcAft>
                <a:spcPts val="500"/>
              </a:spcAft>
            </a:pPr>
            <a:r>
              <a:rPr sz="1400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" panose="02040502050405020303" charset="0"/>
                <a:ea typeface="Google Sans Text"/>
                <a:cs typeface="Georgia" panose="02040502050405020303" charset="0"/>
              </a:rPr>
              <a:t>Input file</a:t>
            </a:r>
            <a:r>
              <a:rPr sz="14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: Must include at least text or title columns.</a:t>
            </a:r>
            <a:endParaRPr sz="1400" b="0" i="0">
              <a:solidFill>
                <a:srgbClr val="1F1F1F"/>
              </a:solidFill>
              <a:latin typeface="Georgia" panose="02040502050405020303" charset="0"/>
              <a:ea typeface="Google Sans Text"/>
              <a:cs typeface="Georgia" panose="02040502050405020303" charset="0"/>
            </a:endParaRPr>
          </a:p>
          <a:p>
            <a:pPr marL="0" indent="0">
              <a:spcBef>
                <a:spcPts val="500"/>
              </a:spcBef>
              <a:spcAft>
                <a:spcPts val="500"/>
              </a:spcAft>
            </a:pPr>
            <a:endParaRPr sz="1400" b="0" i="0">
              <a:solidFill>
                <a:srgbClr val="1F1F1F"/>
              </a:solidFill>
              <a:latin typeface="Georgia" panose="02040502050405020303" charset="0"/>
              <a:ea typeface="Google Sans Text"/>
              <a:cs typeface="Georgia" panose="02040502050405020303" charset="0"/>
            </a:endParaRPr>
          </a:p>
          <a:p>
            <a:pPr marL="0" indent="0">
              <a:spcBef>
                <a:spcPts val="500"/>
              </a:spcBef>
              <a:spcAft>
                <a:spcPts val="500"/>
              </a:spcAft>
            </a:pPr>
            <a:r>
              <a:rPr sz="1400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" panose="02040502050405020303" charset="0"/>
                <a:ea typeface="Google Sans Text"/>
                <a:cs typeface="Georgia" panose="02040502050405020303" charset="0"/>
              </a:rPr>
              <a:t>Output file:</a:t>
            </a:r>
            <a:r>
              <a:rPr sz="14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reddit_labeled_by_pretrained.csv </a:t>
            </a:r>
            <a:endParaRPr sz="1400" b="0" i="0">
              <a:solidFill>
                <a:srgbClr val="1F1F1F"/>
              </a:solidFill>
              <a:latin typeface="Georgia" panose="02040502050405020303" charset="0"/>
              <a:ea typeface="Google Sans Text"/>
              <a:cs typeface="Georgia" panose="02040502050405020303" charset="0"/>
            </a:endParaRPr>
          </a:p>
          <a:p>
            <a:pPr marL="0" indent="0">
              <a:spcBef>
                <a:spcPts val="500"/>
              </a:spcBef>
              <a:spcAft>
                <a:spcPts val="500"/>
              </a:spcAft>
            </a:pPr>
            <a:r>
              <a:rPr sz="14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with extra columns:</a:t>
            </a:r>
            <a:endParaRPr sz="1400" b="0" i="0">
              <a:solidFill>
                <a:srgbClr val="1F1F1F"/>
              </a:solidFill>
              <a:latin typeface="Georgia" panose="02040502050405020303" charset="0"/>
              <a:ea typeface="Google Sans Text"/>
              <a:cs typeface="Georgia" panose="02040502050405020303" charset="0"/>
            </a:endParaRPr>
          </a:p>
          <a:p>
            <a:pPr marL="0" indent="0">
              <a:spcBef>
                <a:spcPts val="500"/>
              </a:spcBef>
              <a:spcAft>
                <a:spcPts val="500"/>
              </a:spcAft>
            </a:pPr>
            <a:r>
              <a:rPr sz="14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predicted_emotion, confidence, predicted_depression, label_source</a:t>
            </a:r>
            <a:endParaRPr sz="1400" b="0" i="0">
              <a:solidFill>
                <a:srgbClr val="1F1F1F"/>
              </a:solidFill>
              <a:latin typeface="Georgia" panose="02040502050405020303" charset="0"/>
              <a:ea typeface="Google Sans Text"/>
              <a:cs typeface="Georgia" panose="02040502050405020303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2960" y="1607185"/>
            <a:ext cx="4300220" cy="4897755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Text Preprocessing</a:t>
            </a:r>
            <a:endParaRPr lang="en-I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0" y="943610"/>
            <a:ext cx="11301095" cy="4481830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spcBef>
                <a:spcPts val="500"/>
              </a:spcBef>
              <a:spcAft>
                <a:spcPts val="500"/>
              </a:spcAft>
            </a:pPr>
            <a:r>
              <a:rPr sz="14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This cell defines the text preprocessing class that handles cleaning and extracts linguistic features important for depression detection.</a:t>
            </a:r>
            <a:endParaRPr sz="1400" b="0" i="0">
              <a:solidFill>
                <a:srgbClr val="1F1F1F"/>
              </a:solidFill>
              <a:latin typeface="Georgia" panose="02040502050405020303" charset="0"/>
              <a:ea typeface="Google Sans Text"/>
              <a:cs typeface="Georgia" panose="02040502050405020303" charset="0"/>
            </a:endParaRPr>
          </a:p>
          <a:p>
            <a:pPr marL="0" indent="0">
              <a:spcBef>
                <a:spcPts val="500"/>
              </a:spcBef>
              <a:spcAft>
                <a:spcPts val="500"/>
              </a:spcAft>
            </a:pPr>
            <a:r>
              <a:rPr sz="14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The AdvancedTextPreprocessor class is responsible for turning raw Reddit text into</a:t>
            </a:r>
            <a:r>
              <a:rPr lang="en-IN" sz="14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 </a:t>
            </a:r>
            <a:r>
              <a:rPr sz="14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a cleaned, lemmatized version ready for TF-IDF or other text vectorization</a:t>
            </a:r>
            <a:r>
              <a:rPr lang="en-IN" sz="14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 , </a:t>
            </a:r>
            <a:r>
              <a:rPr sz="14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a dictionary of linguistic/psychological features (ratios of pronoun use, emotional words, etc.)</a:t>
            </a:r>
            <a:endParaRPr sz="1400" b="0" i="0">
              <a:solidFill>
                <a:srgbClr val="1F1F1F"/>
              </a:solidFill>
              <a:latin typeface="Georgia" panose="02040502050405020303" charset="0"/>
              <a:ea typeface="Google Sans Text"/>
              <a:cs typeface="Georgia" panose="02040502050405020303" charset="0"/>
            </a:endParaRPr>
          </a:p>
          <a:p>
            <a:pPr marL="0" indent="0">
              <a:spcBef>
                <a:spcPts val="500"/>
              </a:spcBef>
              <a:spcAft>
                <a:spcPts val="500"/>
              </a:spcAft>
            </a:pPr>
            <a:endParaRPr sz="1400" b="0" i="0">
              <a:solidFill>
                <a:srgbClr val="1F1F1F"/>
              </a:solidFill>
              <a:latin typeface="Georgia" panose="02040502050405020303" charset="0"/>
              <a:ea typeface="Google Sans Text"/>
              <a:cs typeface="Georgia" panose="02040502050405020303" charset="0"/>
            </a:endParaRPr>
          </a:p>
          <a:p>
            <a:pPr marL="0" indent="0">
              <a:spcBef>
                <a:spcPts val="500"/>
              </a:spcBef>
              <a:spcAft>
                <a:spcPts val="500"/>
              </a:spcAft>
            </a:pPr>
            <a:r>
              <a:rPr sz="1400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" panose="02040502050405020303" charset="0"/>
                <a:ea typeface="Google Sans Text"/>
                <a:cs typeface="Georgia" panose="02040502050405020303" charset="0"/>
              </a:rPr>
              <a:t>1) Initialization</a:t>
            </a:r>
            <a:r>
              <a:rPr sz="14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 —init()</a:t>
            </a:r>
            <a:endParaRPr sz="1400" b="0" i="0">
              <a:solidFill>
                <a:srgbClr val="1F1F1F"/>
              </a:solidFill>
              <a:latin typeface="Georgia" panose="02040502050405020303" charset="0"/>
              <a:ea typeface="Google Sans Text"/>
              <a:cs typeface="Georgia" panose="02040502050405020303" charset="0"/>
            </a:endParaRPr>
          </a:p>
          <a:p>
            <a:pPr marL="0" indent="0">
              <a:spcBef>
                <a:spcPts val="500"/>
              </a:spcBef>
              <a:spcAft>
                <a:spcPts val="500"/>
              </a:spcAft>
            </a:pPr>
            <a:r>
              <a:rPr sz="1400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" panose="02040502050405020303" charset="0"/>
                <a:ea typeface="Google Sans Text"/>
                <a:cs typeface="Georgia" panose="02040502050405020303" charset="0"/>
              </a:rPr>
              <a:t>2)Text cleaning</a:t>
            </a:r>
            <a:r>
              <a:rPr sz="14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 —clean_text(text)</a:t>
            </a:r>
            <a:endParaRPr sz="1400" b="0" i="0">
              <a:solidFill>
                <a:srgbClr val="1F1F1F"/>
              </a:solidFill>
              <a:latin typeface="Georgia" panose="02040502050405020303" charset="0"/>
              <a:ea typeface="Google Sans Text"/>
              <a:cs typeface="Georgia" panose="02040502050405020303" charset="0"/>
            </a:endParaRPr>
          </a:p>
          <a:p>
            <a:pPr marL="0" indent="0">
              <a:spcBef>
                <a:spcPts val="500"/>
              </a:spcBef>
              <a:spcAft>
                <a:spcPts val="500"/>
              </a:spcAft>
            </a:pPr>
            <a:r>
              <a:rPr sz="1400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" panose="02040502050405020303" charset="0"/>
                <a:ea typeface="Google Sans Text"/>
                <a:cs typeface="Georgia" panose="02040502050405020303" charset="0"/>
              </a:rPr>
              <a:t>3) Linguistic feature extraction</a:t>
            </a:r>
            <a:r>
              <a:rPr sz="14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 —extract_linguistic_features(text)</a:t>
            </a:r>
            <a:endParaRPr sz="1400" b="0" i="0">
              <a:solidFill>
                <a:srgbClr val="1F1F1F"/>
              </a:solidFill>
              <a:latin typeface="Georgia" panose="02040502050405020303" charset="0"/>
              <a:ea typeface="Google Sans Text"/>
              <a:cs typeface="Georgia" panose="02040502050405020303" charset="0"/>
            </a:endParaRPr>
          </a:p>
          <a:p>
            <a:pPr marL="0" indent="0">
              <a:spcBef>
                <a:spcPts val="500"/>
              </a:spcBef>
              <a:spcAft>
                <a:spcPts val="500"/>
              </a:spcAft>
            </a:pPr>
            <a:r>
              <a:rPr sz="1400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" panose="02040502050405020303" charset="0"/>
                <a:ea typeface="Google Sans Text"/>
                <a:cs typeface="Georgia" panose="02040502050405020303" charset="0"/>
              </a:rPr>
              <a:t>4)Tokenization and Lemmatization</a:t>
            </a:r>
            <a:r>
              <a:rPr sz="14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 —tokenize_and_lemmatize(text)</a:t>
            </a:r>
            <a:endParaRPr sz="1400" b="0" i="0">
              <a:solidFill>
                <a:srgbClr val="1F1F1F"/>
              </a:solidFill>
              <a:latin typeface="Georgia" panose="02040502050405020303" charset="0"/>
              <a:ea typeface="Google Sans Text"/>
              <a:cs typeface="Georgia" panose="02040502050405020303" charset="0"/>
            </a:endParaRPr>
          </a:p>
          <a:p>
            <a:pPr marL="0" indent="0">
              <a:spcBef>
                <a:spcPts val="500"/>
              </a:spcBef>
              <a:spcAft>
                <a:spcPts val="500"/>
              </a:spcAft>
            </a:pPr>
            <a:r>
              <a:rPr sz="1400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" panose="02040502050405020303" charset="0"/>
                <a:ea typeface="Google Sans Text"/>
                <a:cs typeface="Georgia" panose="02040502050405020303" charset="0"/>
              </a:rPr>
              <a:t>5)Full pipeline —</a:t>
            </a:r>
            <a:r>
              <a:rPr sz="14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preprocess_text(text, extract_features=True)</a:t>
            </a:r>
            <a:endParaRPr sz="1400" b="0" i="0">
              <a:solidFill>
                <a:srgbClr val="1F1F1F"/>
              </a:solidFill>
              <a:latin typeface="Georgia" panose="02040502050405020303" charset="0"/>
              <a:ea typeface="Google Sans Text"/>
              <a:cs typeface="Georgia" panose="02040502050405020303" charset="0"/>
            </a:endParaRPr>
          </a:p>
          <a:p>
            <a:pPr marL="0" indent="0">
              <a:spcBef>
                <a:spcPts val="500"/>
              </a:spcBef>
              <a:spcAft>
                <a:spcPts val="500"/>
              </a:spcAft>
            </a:pPr>
            <a:endParaRPr sz="1400" b="0" i="0">
              <a:solidFill>
                <a:srgbClr val="1F1F1F"/>
              </a:solidFill>
              <a:latin typeface="Georgia" panose="02040502050405020303" charset="0"/>
              <a:ea typeface="Google Sans Text"/>
              <a:cs typeface="Georgia" panose="02040502050405020303" charset="0"/>
            </a:endParaRPr>
          </a:p>
          <a:p>
            <a:pPr marL="0" indent="0">
              <a:spcBef>
                <a:spcPts val="500"/>
              </a:spcBef>
              <a:spcAft>
                <a:spcPts val="500"/>
              </a:spcAft>
            </a:pPr>
            <a:r>
              <a:rPr sz="1400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" panose="02040502050405020303" charset="0"/>
                <a:ea typeface="Google Sans Text"/>
                <a:cs typeface="Georgia" panose="02040502050405020303" charset="0"/>
              </a:rPr>
              <a:t>Returns:</a:t>
            </a:r>
            <a:endParaRPr sz="1400" b="0" i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Georgia" panose="02040502050405020303" charset="0"/>
              <a:ea typeface="Google Sans Text"/>
              <a:cs typeface="Georgia" panose="02040502050405020303" charset="0"/>
            </a:endParaRPr>
          </a:p>
          <a:p>
            <a:pPr marL="0" indent="0">
              <a:spcBef>
                <a:spcPts val="500"/>
              </a:spcBef>
              <a:spcAft>
                <a:spcPts val="500"/>
              </a:spcAft>
            </a:pPr>
            <a:r>
              <a:rPr sz="14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processed_text → cleaned, lemmatized text (for TF-IDF input)</a:t>
            </a:r>
            <a:endParaRPr sz="1400" b="0" i="0">
              <a:solidFill>
                <a:srgbClr val="1F1F1F"/>
              </a:solidFill>
              <a:latin typeface="Georgia" panose="02040502050405020303" charset="0"/>
              <a:ea typeface="Google Sans Text"/>
              <a:cs typeface="Georgia" panose="02040502050405020303" charset="0"/>
            </a:endParaRPr>
          </a:p>
          <a:p>
            <a:pPr marL="0" indent="0">
              <a:spcBef>
                <a:spcPts val="500"/>
              </a:spcBef>
              <a:spcAft>
                <a:spcPts val="500"/>
              </a:spcAft>
            </a:pPr>
            <a:r>
              <a:rPr sz="14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linguistic_features → dictionary of numeric features</a:t>
            </a:r>
            <a:endParaRPr sz="1400" b="0" i="0">
              <a:solidFill>
                <a:srgbClr val="1F1F1F"/>
              </a:solidFill>
              <a:latin typeface="Georgia" panose="02040502050405020303" charset="0"/>
              <a:ea typeface="Google Sans Text"/>
              <a:cs typeface="Georgia" panose="02040502050405020303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250" y="2110740"/>
            <a:ext cx="5391150" cy="3215640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Feature Engineering</a:t>
            </a:r>
            <a:endParaRPr lang="en-I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344805" y="954405"/>
            <a:ext cx="8291195" cy="5569585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spcBef>
                <a:spcPts val="500"/>
              </a:spcBef>
              <a:spcAft>
                <a:spcPts val="500"/>
              </a:spcAft>
            </a:pPr>
            <a:r>
              <a:rPr sz="16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This cell combines TF-IDF features with linguistic features to create comprehensive text representations for machine learning.</a:t>
            </a:r>
            <a:endParaRPr sz="1600" b="0" i="0">
              <a:solidFill>
                <a:srgbClr val="1F1F1F"/>
              </a:solidFill>
              <a:latin typeface="Georgia" panose="02040502050405020303" charset="0"/>
              <a:ea typeface="Google Sans Text"/>
              <a:cs typeface="Georgia" panose="02040502050405020303" charset="0"/>
            </a:endParaRPr>
          </a:p>
          <a:p>
            <a:pPr marL="0" indent="0">
              <a:spcBef>
                <a:spcPts val="500"/>
              </a:spcBef>
              <a:spcAft>
                <a:spcPts val="500"/>
              </a:spcAft>
            </a:pPr>
            <a:r>
              <a:rPr sz="2200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" panose="02040502050405020303" charset="0"/>
                <a:ea typeface="Google Sans Text"/>
                <a:cs typeface="Georgia" panose="02040502050405020303" charset="0"/>
              </a:rPr>
              <a:t>Why Combine Linguistic + TF-IDF?</a:t>
            </a:r>
            <a:endParaRPr sz="2200" b="0" i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Georgia" panose="02040502050405020303" charset="0"/>
              <a:ea typeface="Google Sans Text"/>
              <a:cs typeface="Georgia" panose="02040502050405020303" charset="0"/>
            </a:endParaRPr>
          </a:p>
          <a:p>
            <a:pPr marL="0" indent="0">
              <a:spcBef>
                <a:spcPts val="500"/>
              </a:spcBef>
              <a:spcAft>
                <a:spcPts val="500"/>
              </a:spcAft>
            </a:pPr>
            <a:r>
              <a:rPr sz="1900" b="1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TF-IDF</a:t>
            </a:r>
            <a:r>
              <a:rPr sz="19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 </a:t>
            </a:r>
            <a:r>
              <a:rPr lang="en-IN" sz="19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:</a:t>
            </a:r>
            <a:endParaRPr sz="1900" b="0" i="0">
              <a:solidFill>
                <a:srgbClr val="1F1F1F"/>
              </a:solidFill>
              <a:latin typeface="Georgia" panose="02040502050405020303" charset="0"/>
              <a:ea typeface="Google Sans Text"/>
              <a:cs typeface="Georgia" panose="02040502050405020303" charset="0"/>
            </a:endParaRPr>
          </a:p>
          <a:p>
            <a:pPr marL="0" indent="0">
              <a:spcBef>
                <a:spcPts val="500"/>
              </a:spcBef>
              <a:spcAft>
                <a:spcPts val="500"/>
              </a:spcAft>
            </a:pPr>
            <a:r>
              <a:rPr sz="16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Captures what is said (the literal words, phrases, and their statistical importance)</a:t>
            </a:r>
            <a:r>
              <a:rPr lang="en-IN" sz="16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, highlights distinctive words and reduces common word occurence.</a:t>
            </a:r>
            <a:endParaRPr sz="1600" b="0" i="0">
              <a:solidFill>
                <a:srgbClr val="1F1F1F"/>
              </a:solidFill>
              <a:latin typeface="Georgia" panose="02040502050405020303" charset="0"/>
              <a:ea typeface="Google Sans Text"/>
              <a:cs typeface="Georgia" panose="02040502050405020303" charset="0"/>
            </a:endParaRPr>
          </a:p>
          <a:p>
            <a:pPr marL="0" indent="0">
              <a:spcBef>
                <a:spcPts val="500"/>
              </a:spcBef>
              <a:spcAft>
                <a:spcPts val="500"/>
              </a:spcAft>
            </a:pPr>
            <a:r>
              <a:rPr sz="1900" b="1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Linguistic features</a:t>
            </a:r>
            <a:r>
              <a:rPr sz="19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 </a:t>
            </a:r>
            <a:r>
              <a:rPr lang="en-IN" sz="19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:</a:t>
            </a:r>
            <a:endParaRPr sz="1900" b="0" i="0">
              <a:solidFill>
                <a:srgbClr val="1F1F1F"/>
              </a:solidFill>
              <a:latin typeface="Georgia" panose="02040502050405020303" charset="0"/>
              <a:ea typeface="Google Sans Text"/>
              <a:cs typeface="Georgia" panose="02040502050405020303" charset="0"/>
            </a:endParaRPr>
          </a:p>
          <a:p>
            <a:pPr marL="0" indent="0">
              <a:spcBef>
                <a:spcPts val="500"/>
              </a:spcBef>
              <a:spcAft>
                <a:spcPts val="500"/>
              </a:spcAft>
            </a:pPr>
            <a:r>
              <a:rPr sz="16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Capture how it’s said (psychological style, structure, and emotional cues).</a:t>
            </a:r>
            <a:endParaRPr sz="1600" b="0" i="0">
              <a:solidFill>
                <a:srgbClr val="1F1F1F"/>
              </a:solidFill>
              <a:latin typeface="Georgia" panose="02040502050405020303" charset="0"/>
              <a:ea typeface="Google Sans Text"/>
              <a:cs typeface="Georgia" panose="02040502050405020303" charset="0"/>
            </a:endParaRPr>
          </a:p>
          <a:p>
            <a:pPr marL="0" indent="0">
              <a:spcBef>
                <a:spcPts val="500"/>
              </a:spcBef>
              <a:spcAft>
                <a:spcPts val="500"/>
              </a:spcAft>
            </a:pPr>
            <a:r>
              <a:rPr sz="1900" b="1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When combined, we get both</a:t>
            </a:r>
            <a:r>
              <a:rPr sz="19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:</a:t>
            </a:r>
            <a:endParaRPr sz="1900" b="0" i="0">
              <a:solidFill>
                <a:srgbClr val="1F1F1F"/>
              </a:solidFill>
              <a:latin typeface="Georgia" panose="02040502050405020303" charset="0"/>
              <a:ea typeface="Google Sans Text"/>
              <a:cs typeface="Georgia" panose="02040502050405020303" charset="0"/>
            </a:endParaRP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Semantic information (topics, keywords)</a:t>
            </a:r>
            <a:endParaRPr sz="1600" b="0" i="0">
              <a:solidFill>
                <a:srgbClr val="1F1F1F"/>
              </a:solidFill>
              <a:latin typeface="Georgia" panose="02040502050405020303" charset="0"/>
              <a:ea typeface="Google Sans Text"/>
              <a:cs typeface="Georgia" panose="02040502050405020303" charset="0"/>
            </a:endParaRP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Psychological signal (tone, self-focus, emotion, cognitive load).</a:t>
            </a:r>
            <a:endParaRPr sz="1600" b="0" i="0">
              <a:solidFill>
                <a:srgbClr val="1F1F1F"/>
              </a:solidFill>
              <a:latin typeface="Georgia" panose="02040502050405020303" charset="0"/>
              <a:ea typeface="Google Sans Text"/>
              <a:cs typeface="Georgia" panose="02040502050405020303" charset="0"/>
            </a:endParaRPr>
          </a:p>
          <a:p>
            <a:pPr marL="0" indent="0">
              <a:spcBef>
                <a:spcPts val="500"/>
              </a:spcBef>
              <a:spcAft>
                <a:spcPts val="500"/>
              </a:spcAft>
            </a:pPr>
            <a:r>
              <a:rPr sz="16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This combination tends to boost model performance in depression detection and other affective computing tasks.</a:t>
            </a:r>
            <a:endParaRPr sz="1600" b="0" i="0">
              <a:solidFill>
                <a:srgbClr val="1F1F1F"/>
              </a:solidFill>
              <a:latin typeface="Georgia" panose="02040502050405020303" charset="0"/>
              <a:ea typeface="Google Sans Text"/>
              <a:cs typeface="Georgia" panose="02040502050405020303" charset="0"/>
            </a:endParaRPr>
          </a:p>
          <a:p>
            <a:pPr marL="0" indent="0">
              <a:spcBef>
                <a:spcPts val="500"/>
              </a:spcBef>
              <a:spcAft>
                <a:spcPts val="500"/>
              </a:spcAft>
            </a:pPr>
            <a:endParaRPr sz="1600" b="0" i="0">
              <a:solidFill>
                <a:srgbClr val="1F1F1F"/>
              </a:solidFill>
              <a:latin typeface="Georgia" panose="02040502050405020303" charset="0"/>
              <a:ea typeface="Google Sans Text"/>
              <a:cs typeface="Georgia" panose="02040502050405020303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Depression Detection Model</a:t>
            </a:r>
            <a:endParaRPr lang="en-I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474980" y="1003935"/>
            <a:ext cx="8161020" cy="5045710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spcBef>
                <a:spcPts val="500"/>
              </a:spcBef>
              <a:spcAft>
                <a:spcPts val="500"/>
              </a:spcAft>
            </a:pPr>
            <a:r>
              <a:rPr sz="16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This cell defines the main model class that implements multiple machine learning algorithms and handles training/evaluation.</a:t>
            </a:r>
            <a:endParaRPr sz="1600" b="0" i="0">
              <a:solidFill>
                <a:srgbClr val="1F1F1F"/>
              </a:solidFill>
              <a:latin typeface="Georgia" panose="02040502050405020303" charset="0"/>
              <a:ea typeface="Google Sans Text"/>
              <a:cs typeface="Georgia" panose="02040502050405020303" charset="0"/>
            </a:endParaRPr>
          </a:p>
          <a:p>
            <a:pPr marL="0" indent="0">
              <a:spcBef>
                <a:spcPts val="500"/>
              </a:spcBef>
              <a:spcAft>
                <a:spcPts val="500"/>
              </a:spcAft>
            </a:pPr>
            <a:r>
              <a:rPr lang="en-IN" sz="16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The models used are:</a:t>
            </a:r>
            <a:r>
              <a:rPr lang="en-IN" sz="1600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" panose="02040502050405020303" charset="0"/>
                <a:ea typeface="Google Sans Text"/>
                <a:cs typeface="Georgia" panose="02040502050405020303" charset="0"/>
              </a:rPr>
              <a:t> </a:t>
            </a:r>
            <a:r>
              <a:rPr lang="en-IN" sz="1600" b="0" i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" panose="02040502050405020303" charset="0"/>
                <a:ea typeface="Google Sans Text"/>
                <a:cs typeface="Georgia" panose="02040502050405020303" charset="0"/>
              </a:rPr>
              <a:t>Logistic Regression</a:t>
            </a:r>
            <a:r>
              <a:rPr lang="en-IN" sz="16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, </a:t>
            </a:r>
            <a:r>
              <a:rPr lang="en-IN" sz="1600" b="0" i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" panose="02040502050405020303" charset="0"/>
                <a:ea typeface="Google Sans Text"/>
                <a:cs typeface="Georgia" panose="02040502050405020303" charset="0"/>
              </a:rPr>
              <a:t>SVM</a:t>
            </a:r>
            <a:r>
              <a:rPr lang="en-IN" sz="1600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" panose="02040502050405020303" charset="0"/>
                <a:ea typeface="Google Sans Text"/>
                <a:cs typeface="Georgia" panose="02040502050405020303" charset="0"/>
              </a:rPr>
              <a:t> </a:t>
            </a:r>
            <a:r>
              <a:rPr lang="en-IN" sz="16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and </a:t>
            </a:r>
            <a:r>
              <a:rPr lang="en-IN" sz="1600" b="0" i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" panose="02040502050405020303" charset="0"/>
                <a:ea typeface="Google Sans Text"/>
                <a:cs typeface="Georgia" panose="02040502050405020303" charset="0"/>
              </a:rPr>
              <a:t>Random Forest</a:t>
            </a:r>
            <a:r>
              <a:rPr lang="en-IN" sz="1600" b="0" i="1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.</a:t>
            </a:r>
            <a:endParaRPr sz="1600" b="0" i="0">
              <a:solidFill>
                <a:srgbClr val="1F1F1F"/>
              </a:solidFill>
              <a:latin typeface="Georgia" panose="02040502050405020303" charset="0"/>
              <a:ea typeface="Google Sans Text"/>
              <a:cs typeface="Georgia" panose="02040502050405020303" charset="0"/>
            </a:endParaRPr>
          </a:p>
          <a:p>
            <a:pPr marL="0" indent="0">
              <a:spcBef>
                <a:spcPts val="500"/>
              </a:spcBef>
              <a:spcAft>
                <a:spcPts val="500"/>
              </a:spcAft>
            </a:pPr>
            <a:r>
              <a:rPr sz="1900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" panose="02040502050405020303" charset="0"/>
                <a:ea typeface="Google Sans Text"/>
                <a:cs typeface="Georgia" panose="02040502050405020303" charset="0"/>
              </a:rPr>
              <a:t>DepressionDetectionModel</a:t>
            </a:r>
            <a:r>
              <a:rPr sz="19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 is a wrapper class that:</a:t>
            </a:r>
            <a:endParaRPr sz="1900" b="0" i="0">
              <a:solidFill>
                <a:srgbClr val="1F1F1F"/>
              </a:solidFill>
              <a:latin typeface="Georgia" panose="02040502050405020303" charset="0"/>
              <a:ea typeface="Google Sans Text"/>
              <a:cs typeface="Georgia" panose="02040502050405020303" charset="0"/>
            </a:endParaRP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IN" sz="16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I</a:t>
            </a:r>
            <a:r>
              <a:rPr sz="16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ntegrates our preprocessing (AdvancedTextPreprocessor)</a:t>
            </a:r>
            <a:endParaRPr sz="1600" b="0" i="0">
              <a:solidFill>
                <a:srgbClr val="1F1F1F"/>
              </a:solidFill>
              <a:latin typeface="Georgia" panose="02040502050405020303" charset="0"/>
              <a:ea typeface="Google Sans Text"/>
              <a:cs typeface="Georgia" panose="02040502050405020303" charset="0"/>
            </a:endParaRP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IN" sz="16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I</a:t>
            </a:r>
            <a:r>
              <a:rPr sz="16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ntegrates our feature engineering (FeatureEngineer)</a:t>
            </a:r>
            <a:endParaRPr sz="1600" b="0" i="0">
              <a:solidFill>
                <a:srgbClr val="1F1F1F"/>
              </a:solidFill>
              <a:latin typeface="Georgia" panose="02040502050405020303" charset="0"/>
              <a:ea typeface="Google Sans Text"/>
              <a:cs typeface="Georgia" panose="02040502050405020303" charset="0"/>
            </a:endParaRP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IN" sz="16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D</a:t>
            </a:r>
            <a:r>
              <a:rPr sz="16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efines and trains multiple ML classifiers</a:t>
            </a:r>
            <a:endParaRPr sz="1600" b="0" i="0">
              <a:solidFill>
                <a:srgbClr val="1F1F1F"/>
              </a:solidFill>
              <a:latin typeface="Georgia" panose="02040502050405020303" charset="0"/>
              <a:ea typeface="Google Sans Text"/>
              <a:cs typeface="Georgia" panose="02040502050405020303" charset="0"/>
            </a:endParaRP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IN" sz="16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E</a:t>
            </a:r>
            <a:r>
              <a:rPr sz="16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valuates, visualizes, and interprets their performance</a:t>
            </a:r>
            <a:endParaRPr sz="1600" b="0" i="0">
              <a:solidFill>
                <a:srgbClr val="1F1F1F"/>
              </a:solidFill>
              <a:latin typeface="Georgia" panose="02040502050405020303" charset="0"/>
              <a:ea typeface="Google Sans Text"/>
              <a:cs typeface="Georgia" panose="02040502050405020303" charset="0"/>
            </a:endParaRP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IN" sz="16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C</a:t>
            </a:r>
            <a:r>
              <a:rPr sz="16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an make predictions on new text</a:t>
            </a:r>
            <a:endParaRPr sz="1600" b="0" i="0">
              <a:solidFill>
                <a:srgbClr val="1F1F1F"/>
              </a:solidFill>
              <a:latin typeface="Georgia" panose="02040502050405020303" charset="0"/>
              <a:ea typeface="Google Sans Text"/>
              <a:cs typeface="Georgia" panose="02040502050405020303" charset="0"/>
            </a:endParaRPr>
          </a:p>
          <a:p>
            <a:pPr marL="0" indent="0">
              <a:spcBef>
                <a:spcPts val="500"/>
              </a:spcBef>
              <a:spcAft>
                <a:spcPts val="500"/>
              </a:spcAft>
            </a:pPr>
            <a:r>
              <a:rPr sz="1600" b="0" i="0">
                <a:solidFill>
                  <a:srgbClr val="1F1F1F"/>
                </a:solidFill>
                <a:latin typeface="Georgia" panose="02040502050405020303" charset="0"/>
                <a:ea typeface="Google Sans Text"/>
                <a:cs typeface="Georgia" panose="02040502050405020303" charset="0"/>
              </a:rPr>
              <a:t>It’s the top-level “manager” that ties your entire pipeline together.</a:t>
            </a:r>
            <a:endParaRPr sz="1600" b="0" i="0">
              <a:solidFill>
                <a:srgbClr val="1F1F1F"/>
              </a:solidFill>
              <a:latin typeface="Georgia" panose="02040502050405020303" charset="0"/>
              <a:ea typeface="Google Sans Text"/>
              <a:cs typeface="Georgia" panose="02040502050405020303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Data Visualization:</a:t>
            </a:r>
            <a:endParaRPr lang="en-IN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5430" y="1442720"/>
            <a:ext cx="4966970" cy="432244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70180" y="1047115"/>
            <a:ext cx="6445250" cy="5012690"/>
          </a:xfrm>
          <a:prstGeom prst="rect">
            <a:avLst/>
          </a:prstGeom>
        </p:spPr>
        <p:txBody>
          <a:bodyPr>
            <a:noAutofit/>
          </a:bodyPr>
          <a:p>
            <a:r>
              <a:rPr sz="1600">
                <a:latin typeface="Georgia" panose="02040502050405020303" charset="0"/>
                <a:cs typeface="Georgia" panose="02040502050405020303" charset="0"/>
              </a:rPr>
              <a:t>This class (</a:t>
            </a:r>
            <a:r>
              <a:rPr sz="16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" panose="02040502050405020303" charset="0"/>
                <a:cs typeface="Georgia" panose="02040502050405020303" charset="0"/>
              </a:rPr>
              <a:t>DataVisualizer</a:t>
            </a:r>
            <a:r>
              <a:rPr sz="1600">
                <a:latin typeface="Georgia" panose="02040502050405020303" charset="0"/>
                <a:cs typeface="Georgia" panose="02040502050405020303" charset="0"/>
              </a:rPr>
              <a:t>) performs data exploration and visualization for a dataset containing social media posts. It:</a:t>
            </a:r>
            <a:endParaRPr sz="1600">
              <a:latin typeface="Georgia" panose="02040502050405020303" charset="0"/>
              <a:cs typeface="Georgia" panose="02040502050405020303" charset="0"/>
            </a:endParaRPr>
          </a:p>
          <a:p>
            <a:endParaRPr sz="160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Arial" panose="020B0604020202020204"/>
              <a:buChar char="•"/>
            </a:pPr>
            <a:r>
              <a:rPr sz="1600">
                <a:latin typeface="Georgia" panose="02040502050405020303" charset="0"/>
                <a:cs typeface="Georgia" panose="02040502050405020303" charset="0"/>
              </a:rPr>
              <a:t>Displays </a:t>
            </a:r>
            <a:r>
              <a:rPr sz="16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" panose="02040502050405020303" charset="0"/>
                <a:cs typeface="Georgia" panose="02040502050405020303" charset="0"/>
              </a:rPr>
              <a:t>dataset statistics</a:t>
            </a:r>
            <a:r>
              <a:rPr sz="1600">
                <a:latin typeface="Georgia" panose="02040502050405020303" charset="0"/>
                <a:cs typeface="Georgia" panose="02040502050405020303" charset="0"/>
              </a:rPr>
              <a:t> such as total posts and class distribution (depression vs non-depression).</a:t>
            </a:r>
            <a:endParaRPr sz="160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Arial" panose="020B0604020202020204"/>
              <a:buChar char="•"/>
            </a:pPr>
            <a:endParaRPr sz="160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Arial" panose="020B0604020202020204"/>
              <a:buChar char="•"/>
            </a:pPr>
            <a:r>
              <a:rPr sz="1600">
                <a:latin typeface="Georgia" panose="02040502050405020303" charset="0"/>
                <a:cs typeface="Georgia" panose="02040502050405020303" charset="0"/>
              </a:rPr>
              <a:t>Creates </a:t>
            </a:r>
            <a:r>
              <a:rPr sz="16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" panose="02040502050405020303" charset="0"/>
                <a:cs typeface="Georgia" panose="02040502050405020303" charset="0"/>
              </a:rPr>
              <a:t>visual insights</a:t>
            </a:r>
            <a:r>
              <a:rPr sz="1600">
                <a:latin typeface="Georgia" panose="02040502050405020303" charset="0"/>
                <a:cs typeface="Georgia" panose="02040502050405020303" charset="0"/>
              </a:rPr>
              <a:t> including:</a:t>
            </a:r>
            <a:endParaRPr sz="160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Arial" panose="020B0604020202020204"/>
              <a:buChar char="•"/>
            </a:pPr>
            <a:endParaRPr sz="16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buFont typeface="Arial" panose="020B0604020202020204"/>
              <a:buChar char="◦"/>
            </a:pPr>
            <a:r>
              <a:rPr sz="1600">
                <a:latin typeface="Georgia" panose="02040502050405020303" charset="0"/>
                <a:cs typeface="Georgia" panose="02040502050405020303" charset="0"/>
              </a:rPr>
              <a:t>Pie chart for class balance.</a:t>
            </a:r>
            <a:endParaRPr sz="16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buFont typeface="Arial" panose="020B0604020202020204"/>
              <a:buChar char="◦"/>
            </a:pPr>
            <a:endParaRPr sz="16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buFont typeface="Arial" panose="020B0604020202020204"/>
              <a:buChar char="◦"/>
            </a:pPr>
            <a:r>
              <a:rPr sz="1600">
                <a:latin typeface="Georgia" panose="02040502050405020303" charset="0"/>
                <a:cs typeface="Georgia" panose="02040502050405020303" charset="0"/>
              </a:rPr>
              <a:t>Histogram showing post length distribution.</a:t>
            </a:r>
            <a:endParaRPr sz="16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buFont typeface="Arial" panose="020B0604020202020204"/>
              <a:buChar char="◦"/>
            </a:pPr>
            <a:endParaRPr sz="16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buFont typeface="Arial" panose="020B0604020202020204"/>
              <a:buChar char="◦"/>
            </a:pPr>
            <a:r>
              <a:rPr sz="1600">
                <a:latin typeface="Georgia" panose="02040502050405020303" charset="0"/>
                <a:cs typeface="Georgia" panose="02040502050405020303" charset="0"/>
              </a:rPr>
              <a:t>Word clouds highlighting common words in each class.</a:t>
            </a:r>
            <a:endParaRPr sz="16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buFont typeface="Arial" panose="020B0604020202020204"/>
              <a:buChar char="◦"/>
            </a:pPr>
            <a:endParaRPr sz="1600">
              <a:latin typeface="Georgia" panose="02040502050405020303" charset="0"/>
              <a:cs typeface="Georgia" panose="02040502050405020303" charset="0"/>
            </a:endParaRPr>
          </a:p>
          <a:p>
            <a:pPr lvl="1">
              <a:buFont typeface="Arial" panose="020B0604020202020204"/>
              <a:buChar char="◦"/>
            </a:pPr>
            <a:r>
              <a:rPr sz="1600">
                <a:latin typeface="Georgia" panose="02040502050405020303" charset="0"/>
                <a:cs typeface="Georgia" panose="02040502050405020303" charset="0"/>
              </a:rPr>
              <a:t>Subreddit-level analysis (if available) showing where depression-related posts are most common.</a:t>
            </a:r>
            <a:endParaRPr sz="1600">
              <a:latin typeface="Georgia" panose="02040502050405020303" charset="0"/>
              <a:cs typeface="Georgia" panose="02040502050405020303" charset="0"/>
            </a:endParaRPr>
          </a:p>
          <a:p>
            <a:pPr lvl="1" indent="0">
              <a:buFont typeface="Arial" panose="020B0604020202020204"/>
              <a:buNone/>
            </a:pPr>
            <a:endParaRPr sz="1600">
              <a:latin typeface="Georgia" panose="02040502050405020303" charset="0"/>
              <a:cs typeface="Georgia" panose="02040502050405020303" charset="0"/>
            </a:endParaRPr>
          </a:p>
          <a:p>
            <a:r>
              <a:rPr sz="1600">
                <a:latin typeface="Georgia" panose="02040502050405020303" charset="0"/>
                <a:cs typeface="Georgia" panose="02040502050405020303" charset="0"/>
              </a:rPr>
              <a:t>Overall, it helps understand the dataset’s composition and key text patterns visually.</a:t>
            </a:r>
            <a:endParaRPr sz="1600">
              <a:latin typeface="Georgia" panose="02040502050405020303" charset="0"/>
              <a:cs typeface="Georgia" panose="02040502050405020303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main() Execution</a:t>
            </a:r>
            <a:endParaRPr lang="en-I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464820" y="1094740"/>
            <a:ext cx="8171180" cy="4841875"/>
          </a:xfrm>
          <a:prstGeom prst="rect">
            <a:avLst/>
          </a:prstGeom>
        </p:spPr>
        <p:txBody>
          <a:bodyPr>
            <a:noAutofit/>
          </a:bodyPr>
          <a:p>
            <a:r>
              <a:rPr sz="1600">
                <a:latin typeface="Georgia" panose="02040502050405020303" charset="0"/>
                <a:cs typeface="Georgia" panose="02040502050405020303" charset="0"/>
              </a:rPr>
              <a:t>This function runs the </a:t>
            </a:r>
            <a:r>
              <a:rPr sz="16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" panose="02040502050405020303" charset="0"/>
                <a:cs typeface="Georgia" panose="02040502050405020303" charset="0"/>
              </a:rPr>
              <a:t>complete depression detection pipeline</a:t>
            </a:r>
            <a:r>
              <a:rPr sz="1600">
                <a:latin typeface="Georgia" panose="02040502050405020303" charset="0"/>
                <a:cs typeface="Georgia" panose="02040502050405020303" charset="0"/>
              </a:rPr>
              <a:t> on an existing dataset (CSV file). It:</a:t>
            </a:r>
            <a:endParaRPr sz="1600">
              <a:latin typeface="Georgia" panose="02040502050405020303" charset="0"/>
              <a:cs typeface="Georgia" panose="02040502050405020303" charset="0"/>
            </a:endParaRPr>
          </a:p>
          <a:p>
            <a:endParaRPr sz="160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Arial" panose="020B0604020202020204"/>
              <a:buChar char="•"/>
            </a:pPr>
            <a:r>
              <a:rPr sz="16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" panose="02040502050405020303" charset="0"/>
                <a:cs typeface="Georgia" panose="02040502050405020303" charset="0"/>
              </a:rPr>
              <a:t>Loads and prepares</a:t>
            </a:r>
            <a:r>
              <a:rPr sz="1600">
                <a:latin typeface="Georgia" panose="02040502050405020303" charset="0"/>
                <a:cs typeface="Georgia" panose="02040502050405020303" charset="0"/>
              </a:rPr>
              <a:t> data using DataLoader.</a:t>
            </a:r>
            <a:endParaRPr sz="160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Arial" panose="020B0604020202020204"/>
              <a:buChar char="•"/>
            </a:pPr>
            <a:endParaRPr sz="160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Arial" panose="020B0604020202020204"/>
              <a:buChar char="•"/>
            </a:pPr>
            <a:r>
              <a:rPr sz="16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" panose="02040502050405020303" charset="0"/>
                <a:cs typeface="Georgia" panose="02040502050405020303" charset="0"/>
              </a:rPr>
              <a:t>Explores</a:t>
            </a:r>
            <a:r>
              <a:rPr sz="1600">
                <a:latin typeface="Georgia" panose="02040502050405020303" charset="0"/>
                <a:cs typeface="Georgia" panose="02040502050405020303" charset="0"/>
              </a:rPr>
              <a:t> the dataset visually with DataVisualizer.</a:t>
            </a:r>
            <a:endParaRPr sz="160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Arial" panose="020B0604020202020204"/>
              <a:buChar char="•"/>
            </a:pPr>
            <a:endParaRPr sz="160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Arial" panose="020B0604020202020204"/>
              <a:buChar char="•"/>
            </a:pPr>
            <a:r>
              <a:rPr sz="16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" panose="02040502050405020303" charset="0"/>
                <a:cs typeface="Georgia" panose="02040502050405020303" charset="0"/>
              </a:rPr>
              <a:t>Trains and evaluates</a:t>
            </a:r>
            <a:r>
              <a:rPr sz="1600">
                <a:latin typeface="Georgia" panose="02040502050405020303" charset="0"/>
                <a:cs typeface="Georgia" panose="02040502050405020303" charset="0"/>
              </a:rPr>
              <a:t> depression detection models.</a:t>
            </a:r>
            <a:endParaRPr sz="160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Arial" panose="020B0604020202020204"/>
              <a:buChar char="•"/>
            </a:pPr>
            <a:endParaRPr sz="160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Arial" panose="020B0604020202020204"/>
              <a:buChar char="•"/>
            </a:pPr>
            <a:r>
              <a:rPr sz="16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" panose="02040502050405020303" charset="0"/>
                <a:cs typeface="Georgia" panose="02040502050405020303" charset="0"/>
              </a:rPr>
              <a:t>Visualizes results and analyzes</a:t>
            </a:r>
            <a:r>
              <a:rPr sz="1600">
                <a:latin typeface="Georgia" panose="02040502050405020303" charset="0"/>
                <a:cs typeface="Georgia" panose="02040502050405020303" charset="0"/>
              </a:rPr>
              <a:t> important linguistic features.</a:t>
            </a:r>
            <a:endParaRPr sz="160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Arial" panose="020B0604020202020204"/>
              <a:buChar char="•"/>
            </a:pPr>
            <a:endParaRPr sz="160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Arial" panose="020B0604020202020204"/>
              <a:buChar char="•"/>
            </a:pPr>
            <a:r>
              <a:rPr sz="16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" panose="02040502050405020303" charset="0"/>
                <a:cs typeface="Georgia" panose="02040502050405020303" charset="0"/>
              </a:rPr>
              <a:t>Tests the model</a:t>
            </a:r>
            <a:r>
              <a:rPr sz="1600">
                <a:latin typeface="Georgia" panose="02040502050405020303" charset="0"/>
                <a:cs typeface="Georgia" panose="02040502050405020303" charset="0"/>
              </a:rPr>
              <a:t> on sample texts to show prediction results.</a:t>
            </a:r>
            <a:endParaRPr sz="160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Arial" panose="020B0604020202020204"/>
              <a:buChar char="•"/>
            </a:pPr>
            <a:endParaRPr sz="1600">
              <a:latin typeface="Georgia" panose="02040502050405020303" charset="0"/>
              <a:cs typeface="Georgia" panose="02040502050405020303" charset="0"/>
            </a:endParaRPr>
          </a:p>
          <a:p>
            <a:pPr>
              <a:buFont typeface="Arial" panose="020B0604020202020204"/>
              <a:buChar char="•"/>
            </a:pPr>
            <a:r>
              <a:rPr sz="16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" panose="02040502050405020303" charset="0"/>
                <a:cs typeface="Georgia" panose="02040502050405020303" charset="0"/>
              </a:rPr>
              <a:t>Displays final performance metrics</a:t>
            </a:r>
            <a:r>
              <a:rPr sz="1600">
                <a:latin typeface="Georgia" panose="02040502050405020303" charset="0"/>
                <a:cs typeface="Georgia" panose="02040502050405020303" charset="0"/>
              </a:rPr>
              <a:t> (accuracy, F1-score, precision, recall, AUC).</a:t>
            </a:r>
            <a:endParaRPr sz="1600">
              <a:latin typeface="Georgia" panose="02040502050405020303" charset="0"/>
              <a:cs typeface="Georgia" panose="02040502050405020303" charset="0"/>
            </a:endParaRPr>
          </a:p>
          <a:p>
            <a:r>
              <a:rPr sz="1600">
                <a:latin typeface="Georgia" panose="02040502050405020303" charset="0"/>
                <a:cs typeface="Georgia" panose="02040502050405020303" charset="0"/>
              </a:rPr>
              <a:t>Overall, it automates the end-to-end workflow — from data loading to model interpretation and performance reporting.</a:t>
            </a:r>
            <a:endParaRPr sz="1600">
              <a:latin typeface="Georgia" panose="02040502050405020303" charset="0"/>
              <a:cs typeface="Georgia" panose="02040502050405020303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Results</a:t>
            </a:r>
            <a:endParaRPr lang="en-IN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421640" y="1731645"/>
            <a:ext cx="3916045" cy="3395345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sz="1600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" panose="02040502050405020303" charset="0"/>
                <a:ea typeface="monospace"/>
                <a:cs typeface="Georgia" panose="02040502050405020303" charset="0"/>
              </a:rPr>
              <a:t>Data Split</a:t>
            </a:r>
            <a:r>
              <a:rPr sz="1600" b="0" i="0">
                <a:solidFill>
                  <a:srgbClr val="1F1F1F"/>
                </a:solidFill>
                <a:latin typeface="Georgia" panose="02040502050405020303" charset="0"/>
                <a:ea typeface="monospace"/>
                <a:cs typeface="Georgia" panose="02040502050405020303" charset="0"/>
              </a:rPr>
              <a:t>:</a:t>
            </a:r>
            <a:endParaRPr sz="1600" b="0" i="0">
              <a:solidFill>
                <a:srgbClr val="1F1F1F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1F1F1F"/>
                </a:solidFill>
                <a:latin typeface="Georgia" panose="02040502050405020303" charset="0"/>
                <a:ea typeface="monospace"/>
                <a:cs typeface="Georgia" panose="02040502050405020303" charset="0"/>
              </a:rPr>
              <a:t>Training samples: 3147</a:t>
            </a:r>
            <a:endParaRPr sz="1600" b="0" i="0">
              <a:solidFill>
                <a:srgbClr val="1F1F1F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1F1F1F"/>
                </a:solidFill>
                <a:latin typeface="Georgia" panose="02040502050405020303" charset="0"/>
                <a:ea typeface="monospace"/>
                <a:cs typeface="Georgia" panose="02040502050405020303" charset="0"/>
              </a:rPr>
              <a:t>Testing samples: 787</a:t>
            </a:r>
            <a:endParaRPr sz="1600" b="0" i="0">
              <a:solidFill>
                <a:srgbClr val="1F1F1F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1F1F1F"/>
                </a:solidFill>
                <a:latin typeface="Georgia" panose="02040502050405020303" charset="0"/>
                <a:ea typeface="monospace"/>
                <a:cs typeface="Georgia" panose="02040502050405020303" charset="0"/>
              </a:rPr>
              <a:t> Features: 3013</a:t>
            </a:r>
            <a:endParaRPr sz="1600" b="0" i="0">
              <a:solidFill>
                <a:srgbClr val="1F1F1F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 marL="0" indent="0"/>
            <a:endParaRPr sz="1600" b="0" i="0">
              <a:solidFill>
                <a:srgbClr val="1F1F1F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 marL="0" indent="0"/>
            <a:endParaRPr sz="1600" b="0" i="0">
              <a:solidFill>
                <a:srgbClr val="1F1F1F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 marL="0" indent="0"/>
            <a:r>
              <a:rPr sz="1600" b="0" i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" panose="02040502050405020303" charset="0"/>
                <a:ea typeface="monospace"/>
                <a:cs typeface="Georgia" panose="02040502050405020303" charset="0"/>
              </a:rPr>
              <a:t>Logistic Regression Results</a:t>
            </a:r>
            <a:r>
              <a:rPr sz="1600" b="0" i="0">
                <a:solidFill>
                  <a:srgbClr val="1F1F1F"/>
                </a:solidFill>
                <a:latin typeface="Georgia" panose="02040502050405020303" charset="0"/>
                <a:ea typeface="monospace"/>
                <a:cs typeface="Georgia" panose="02040502050405020303" charset="0"/>
              </a:rPr>
              <a:t>:</a:t>
            </a:r>
            <a:endParaRPr sz="1600" b="0" i="0">
              <a:solidFill>
                <a:srgbClr val="1F1F1F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1F1F1F"/>
                </a:solidFill>
                <a:latin typeface="Georgia" panose="02040502050405020303" charset="0"/>
                <a:ea typeface="monospace"/>
                <a:cs typeface="Georgia" panose="02040502050405020303" charset="0"/>
              </a:rPr>
              <a:t>Accuracy: 0.7726</a:t>
            </a:r>
            <a:endParaRPr sz="1600" b="0" i="0">
              <a:solidFill>
                <a:srgbClr val="1F1F1F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1F1F1F"/>
                </a:solidFill>
                <a:latin typeface="Georgia" panose="02040502050405020303" charset="0"/>
                <a:ea typeface="monospace"/>
                <a:cs typeface="Georgia" panose="02040502050405020303" charset="0"/>
              </a:rPr>
              <a:t>AUC-ROC: 0.8598</a:t>
            </a:r>
            <a:endParaRPr sz="1600" b="0" i="0">
              <a:solidFill>
                <a:srgbClr val="1F1F1F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1F1F1F"/>
                </a:solidFill>
                <a:latin typeface="Georgia" panose="02040502050405020303" charset="0"/>
                <a:ea typeface="monospace"/>
                <a:cs typeface="Georgia" panose="02040502050405020303" charset="0"/>
              </a:rPr>
              <a:t>Precision: 0.7793 </a:t>
            </a:r>
            <a:endParaRPr sz="1600" b="0" i="0">
              <a:solidFill>
                <a:srgbClr val="1F1F1F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1F1F1F"/>
                </a:solidFill>
                <a:latin typeface="Georgia" panose="02040502050405020303" charset="0"/>
                <a:ea typeface="monospace"/>
                <a:cs typeface="Georgia" panose="02040502050405020303" charset="0"/>
              </a:rPr>
              <a:t>Recall: 0.7448</a:t>
            </a:r>
            <a:endParaRPr sz="1600" b="0" i="0">
              <a:solidFill>
                <a:srgbClr val="1F1F1F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1F1F1F"/>
                </a:solidFill>
                <a:latin typeface="Georgia" panose="02040502050405020303" charset="0"/>
                <a:ea typeface="monospace"/>
                <a:cs typeface="Georgia" panose="02040502050405020303" charset="0"/>
              </a:rPr>
              <a:t>F1-Score: 0.7617</a:t>
            </a:r>
            <a:endParaRPr sz="1600" b="0" i="0">
              <a:solidFill>
                <a:srgbClr val="1F1F1F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b="0" i="0">
                <a:solidFill>
                  <a:srgbClr val="1F1F1F"/>
                </a:solidFill>
                <a:latin typeface="Georgia" panose="02040502050405020303" charset="0"/>
                <a:ea typeface="monospace"/>
                <a:cs typeface="Georgia" panose="02040502050405020303" charset="0"/>
              </a:rPr>
              <a:t>CV Accuracy: 0.7798 (±0.0460) </a:t>
            </a:r>
            <a:endParaRPr sz="1600" b="0" i="0">
              <a:solidFill>
                <a:srgbClr val="1F1F1F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  <a:p>
            <a:pPr marL="0" indent="0"/>
            <a:endParaRPr sz="1600" b="0" i="0">
              <a:solidFill>
                <a:srgbClr val="1F1F1F"/>
              </a:solidFill>
              <a:latin typeface="Georgia" panose="02040502050405020303" charset="0"/>
              <a:ea typeface="monospace"/>
              <a:cs typeface="Georgia" panose="020405020504050203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337685" y="1333500"/>
            <a:ext cx="3439160" cy="2246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/>
            <a:r>
              <a:rPr sz="16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" panose="02040502050405020303" charset="0"/>
                <a:ea typeface="monospace"/>
                <a:cs typeface="Georgia" panose="02040502050405020303" charset="0"/>
                <a:sym typeface="+mn-ea"/>
              </a:rPr>
              <a:t> Random Forest Results</a:t>
            </a:r>
            <a:r>
              <a:rPr sz="1600">
                <a:solidFill>
                  <a:srgbClr val="1F1F1F"/>
                </a:solidFill>
                <a:latin typeface="Georgia" panose="02040502050405020303" charset="0"/>
                <a:ea typeface="monospace"/>
                <a:cs typeface="Georgia" panose="02040502050405020303" charset="0"/>
                <a:sym typeface="+mn-ea"/>
              </a:rPr>
              <a:t>:</a:t>
            </a:r>
            <a:endParaRPr sz="1600">
              <a:solidFill>
                <a:srgbClr val="1F1F1F"/>
              </a:solidFill>
              <a:latin typeface="Georgia" panose="02040502050405020303" charset="0"/>
              <a:ea typeface="monospace"/>
              <a:cs typeface="Georgia" panose="02040502050405020303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>
                <a:solidFill>
                  <a:srgbClr val="1F1F1F"/>
                </a:solidFill>
                <a:latin typeface="Georgia" panose="02040502050405020303" charset="0"/>
                <a:ea typeface="monospace"/>
                <a:cs typeface="Georgia" panose="02040502050405020303" charset="0"/>
                <a:sym typeface="+mn-ea"/>
              </a:rPr>
              <a:t>Accuracy: 0.8158 </a:t>
            </a:r>
            <a:endParaRPr sz="1600">
              <a:solidFill>
                <a:srgbClr val="1F1F1F"/>
              </a:solidFill>
              <a:latin typeface="Georgia" panose="02040502050405020303" charset="0"/>
              <a:ea typeface="monospace"/>
              <a:cs typeface="Georgia" panose="02040502050405020303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>
                <a:solidFill>
                  <a:srgbClr val="1F1F1F"/>
                </a:solidFill>
                <a:latin typeface="Georgia" panose="02040502050405020303" charset="0"/>
                <a:ea typeface="monospace"/>
                <a:cs typeface="Georgia" panose="02040502050405020303" charset="0"/>
                <a:sym typeface="+mn-ea"/>
              </a:rPr>
              <a:t>AUC-ROC: 0.8897</a:t>
            </a:r>
            <a:endParaRPr sz="1600">
              <a:solidFill>
                <a:srgbClr val="1F1F1F"/>
              </a:solidFill>
              <a:latin typeface="Georgia" panose="02040502050405020303" charset="0"/>
              <a:ea typeface="monospace"/>
              <a:cs typeface="Georgia" panose="02040502050405020303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>
                <a:solidFill>
                  <a:srgbClr val="1F1F1F"/>
                </a:solidFill>
                <a:latin typeface="Georgia" panose="02040502050405020303" charset="0"/>
                <a:ea typeface="monospace"/>
                <a:cs typeface="Georgia" panose="02040502050405020303" charset="0"/>
                <a:sym typeface="+mn-ea"/>
              </a:rPr>
              <a:t> Precision: 0.8187 </a:t>
            </a:r>
            <a:endParaRPr sz="1600">
              <a:solidFill>
                <a:srgbClr val="1F1F1F"/>
              </a:solidFill>
              <a:latin typeface="Georgia" panose="02040502050405020303" charset="0"/>
              <a:ea typeface="monospace"/>
              <a:cs typeface="Georgia" panose="02040502050405020303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>
                <a:solidFill>
                  <a:srgbClr val="1F1F1F"/>
                </a:solidFill>
                <a:latin typeface="Georgia" panose="02040502050405020303" charset="0"/>
                <a:ea typeface="monospace"/>
                <a:cs typeface="Georgia" panose="02040502050405020303" charset="0"/>
                <a:sym typeface="+mn-ea"/>
              </a:rPr>
              <a:t>Recall: 0.7995 </a:t>
            </a:r>
            <a:endParaRPr sz="1600">
              <a:solidFill>
                <a:srgbClr val="1F1F1F"/>
              </a:solidFill>
              <a:latin typeface="Georgia" panose="02040502050405020303" charset="0"/>
              <a:ea typeface="monospace"/>
              <a:cs typeface="Georgia" panose="02040502050405020303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>
                <a:solidFill>
                  <a:srgbClr val="1F1F1F"/>
                </a:solidFill>
                <a:latin typeface="Georgia" panose="02040502050405020303" charset="0"/>
                <a:ea typeface="monospace"/>
                <a:cs typeface="Georgia" panose="02040502050405020303" charset="0"/>
                <a:sym typeface="+mn-ea"/>
              </a:rPr>
              <a:t>F1-Score: 0.8090</a:t>
            </a:r>
            <a:endParaRPr sz="1600">
              <a:solidFill>
                <a:srgbClr val="1F1F1F"/>
              </a:solidFill>
              <a:latin typeface="Georgia" panose="02040502050405020303" charset="0"/>
              <a:ea typeface="monospace"/>
              <a:cs typeface="Georgia" panose="02040502050405020303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>
                <a:solidFill>
                  <a:srgbClr val="1F1F1F"/>
                </a:solidFill>
                <a:latin typeface="Georgia" panose="02040502050405020303" charset="0"/>
                <a:ea typeface="monospace"/>
                <a:cs typeface="Georgia" panose="02040502050405020303" charset="0"/>
                <a:sym typeface="+mn-ea"/>
              </a:rPr>
              <a:t> CV Accuracy: 0.8008</a:t>
            </a:r>
            <a:r>
              <a:rPr lang="en-IN" sz="1600">
                <a:solidFill>
                  <a:srgbClr val="1F1F1F"/>
                </a:solidFill>
                <a:latin typeface="Georgia" panose="02040502050405020303" charset="0"/>
                <a:ea typeface="monospace"/>
                <a:cs typeface="Georgia" panose="02040502050405020303" charset="0"/>
                <a:sym typeface="+mn-ea"/>
              </a:rPr>
              <a:t> </a:t>
            </a:r>
            <a:r>
              <a:rPr sz="1600">
                <a:solidFill>
                  <a:srgbClr val="1F1F1F"/>
                </a:solidFill>
                <a:latin typeface="Georgia" panose="02040502050405020303" charset="0"/>
                <a:ea typeface="monospace"/>
                <a:cs typeface="Georgia" panose="02040502050405020303" charset="0"/>
                <a:sym typeface="+mn-ea"/>
              </a:rPr>
              <a:t>(±0.0210) </a:t>
            </a:r>
            <a:endParaRPr sz="1600">
              <a:solidFill>
                <a:srgbClr val="1F1F1F"/>
              </a:solidFill>
              <a:latin typeface="Georgia" panose="02040502050405020303" charset="0"/>
              <a:ea typeface="monospace"/>
              <a:cs typeface="Georgia" panose="02040502050405020303" charset="0"/>
              <a:sym typeface="+mn-ea"/>
            </a:endParaRPr>
          </a:p>
          <a:p>
            <a:pPr marL="0" indent="0"/>
            <a:endParaRPr lang="en-US" sz="1600">
              <a:solidFill>
                <a:srgbClr val="1F1F1F"/>
              </a:solidFill>
              <a:latin typeface="Georgia" panose="02040502050405020303" charset="0"/>
              <a:ea typeface="monospace"/>
              <a:cs typeface="Georgia" panose="02040502050405020303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337685" y="3580130"/>
            <a:ext cx="3439795" cy="2043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/>
            <a:r>
              <a:rPr sz="1600">
                <a:solidFill>
                  <a:srgbClr val="1F1F1F"/>
                </a:solidFill>
                <a:latin typeface="Georgia" panose="02040502050405020303" charset="0"/>
                <a:ea typeface="monospace"/>
                <a:cs typeface="Georgia" panose="02040502050405020303" charset="0"/>
                <a:sym typeface="+mn-ea"/>
              </a:rPr>
              <a:t> </a:t>
            </a:r>
            <a:r>
              <a:rPr sz="16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eorgia" panose="02040502050405020303" charset="0"/>
                <a:ea typeface="monospace"/>
                <a:cs typeface="Georgia" panose="02040502050405020303" charset="0"/>
                <a:sym typeface="+mn-ea"/>
              </a:rPr>
              <a:t>Svm Results</a:t>
            </a:r>
            <a:r>
              <a:rPr sz="1600">
                <a:solidFill>
                  <a:srgbClr val="1F1F1F"/>
                </a:solidFill>
                <a:latin typeface="Georgia" panose="02040502050405020303" charset="0"/>
                <a:ea typeface="monospace"/>
                <a:cs typeface="Georgia" panose="02040502050405020303" charset="0"/>
                <a:sym typeface="+mn-ea"/>
              </a:rPr>
              <a:t>:</a:t>
            </a:r>
            <a:endParaRPr sz="1600">
              <a:solidFill>
                <a:srgbClr val="1F1F1F"/>
              </a:solidFill>
              <a:latin typeface="Georgia" panose="02040502050405020303" charset="0"/>
              <a:ea typeface="monospace"/>
              <a:cs typeface="Georgia" panose="02040502050405020303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>
                <a:solidFill>
                  <a:srgbClr val="1F1F1F"/>
                </a:solidFill>
                <a:latin typeface="Georgia" panose="02040502050405020303" charset="0"/>
                <a:ea typeface="monospace"/>
                <a:cs typeface="Georgia" panose="02040502050405020303" charset="0"/>
                <a:sym typeface="+mn-ea"/>
              </a:rPr>
              <a:t>Accuracy: 0.7916</a:t>
            </a:r>
            <a:endParaRPr sz="1600">
              <a:solidFill>
                <a:srgbClr val="1F1F1F"/>
              </a:solidFill>
              <a:latin typeface="Georgia" panose="02040502050405020303" charset="0"/>
              <a:ea typeface="monospace"/>
              <a:cs typeface="Georgia" panose="02040502050405020303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>
                <a:solidFill>
                  <a:srgbClr val="1F1F1F"/>
                </a:solidFill>
                <a:latin typeface="Georgia" panose="02040502050405020303" charset="0"/>
                <a:ea typeface="monospace"/>
                <a:cs typeface="Georgia" panose="02040502050405020303" charset="0"/>
                <a:sym typeface="+mn-ea"/>
              </a:rPr>
              <a:t> AUC-ROC: 0.8632</a:t>
            </a:r>
            <a:endParaRPr sz="1600">
              <a:solidFill>
                <a:srgbClr val="1F1F1F"/>
              </a:solidFill>
              <a:latin typeface="Georgia" panose="02040502050405020303" charset="0"/>
              <a:ea typeface="monospace"/>
              <a:cs typeface="Georgia" panose="02040502050405020303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>
                <a:solidFill>
                  <a:srgbClr val="1F1F1F"/>
                </a:solidFill>
                <a:latin typeface="Georgia" panose="02040502050405020303" charset="0"/>
                <a:ea typeface="monospace"/>
                <a:cs typeface="Georgia" panose="02040502050405020303" charset="0"/>
                <a:sym typeface="+mn-ea"/>
              </a:rPr>
              <a:t> Precision: 0.8073</a:t>
            </a:r>
            <a:endParaRPr sz="1600">
              <a:solidFill>
                <a:srgbClr val="1F1F1F"/>
              </a:solidFill>
              <a:latin typeface="Georgia" panose="02040502050405020303" charset="0"/>
              <a:ea typeface="monospace"/>
              <a:cs typeface="Georgia" panose="02040502050405020303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>
                <a:solidFill>
                  <a:srgbClr val="1F1F1F"/>
                </a:solidFill>
                <a:latin typeface="Georgia" panose="02040502050405020303" charset="0"/>
                <a:ea typeface="monospace"/>
                <a:cs typeface="Georgia" panose="02040502050405020303" charset="0"/>
                <a:sym typeface="+mn-ea"/>
              </a:rPr>
              <a:t> Recall: 0.7526 </a:t>
            </a:r>
            <a:endParaRPr sz="1600">
              <a:solidFill>
                <a:srgbClr val="1F1F1F"/>
              </a:solidFill>
              <a:latin typeface="Georgia" panose="02040502050405020303" charset="0"/>
              <a:ea typeface="monospace"/>
              <a:cs typeface="Georgia" panose="02040502050405020303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>
                <a:solidFill>
                  <a:srgbClr val="1F1F1F"/>
                </a:solidFill>
                <a:latin typeface="Georgia" panose="02040502050405020303" charset="0"/>
                <a:ea typeface="monospace"/>
                <a:cs typeface="Georgia" panose="02040502050405020303" charset="0"/>
                <a:sym typeface="+mn-ea"/>
              </a:rPr>
              <a:t>F1-Score: 0.</a:t>
            </a:r>
            <a:endParaRPr sz="1600">
              <a:solidFill>
                <a:srgbClr val="1F1F1F"/>
              </a:solidFill>
              <a:latin typeface="Georgia" panose="02040502050405020303" charset="0"/>
              <a:ea typeface="monospace"/>
              <a:cs typeface="Georgia" panose="02040502050405020303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>
                <a:solidFill>
                  <a:srgbClr val="1F1F1F"/>
                </a:solidFill>
                <a:latin typeface="Georgia" panose="02040502050405020303" charset="0"/>
                <a:ea typeface="monospace"/>
                <a:cs typeface="Georgia" panose="02040502050405020303" charset="0"/>
                <a:sym typeface="+mn-ea"/>
              </a:rPr>
              <a:t>CV Accuracy: 0.7823 (±0.0292)</a:t>
            </a:r>
            <a:endParaRPr lang="en-US" sz="1600">
              <a:solidFill>
                <a:srgbClr val="1F1F1F"/>
              </a:solidFill>
              <a:latin typeface="Georgia" panose="02040502050405020303" charset="0"/>
              <a:ea typeface="monospace"/>
              <a:cs typeface="Georgia" panose="02040502050405020303" charset="0"/>
              <a:sym typeface="+mn-e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4465" y="1333500"/>
            <a:ext cx="4143375" cy="3792855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060450"/>
            <a:ext cx="3468370" cy="2654300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001770"/>
            <a:ext cx="3676650" cy="2654935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2825" y="1060450"/>
            <a:ext cx="3383280" cy="2654300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5070" y="3853180"/>
            <a:ext cx="5307330" cy="2802890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</p:spTree>
    <p:custDataLst>
      <p:tags r:id="rId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Custom Testing</a:t>
            </a:r>
            <a:endParaRPr lang="en-IN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850" y="971550"/>
            <a:ext cx="5420360" cy="49149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4845" y="1181100"/>
            <a:ext cx="5837555" cy="44958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8253"/>
  <p:tag name="KSO_WM_UNIT_ID" val="custom20238253_1*a*1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6.xml><?xml version="1.0" encoding="utf-8"?>
<p:tagLst xmlns:p="http://schemas.openxmlformats.org/presentationml/2006/main">
  <p:tag name="KSO_WM_UNIT_VALUE" val="1904*179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8253_1*d*1"/>
  <p:tag name="KSO_WM_TEMPLATE_CATEGORY" val="custom"/>
  <p:tag name="KSO_WM_TEMPLATE_INDEX" val="20238253"/>
  <p:tag name="KSO_WM_UNIT_LAYERLEVEL" val="1"/>
  <p:tag name="KSO_WM_TAG_VERSION" val="3.0"/>
  <p:tag name="KSO_WM_BEAUTIFY_FLAG" val="#wm#"/>
  <p:tag name="KSO_WM_UNIT_LINE_FORE_SCHEMECOLOR_INDEX" val="1"/>
  <p:tag name="KSO_WM_UNIT_LINE_FILL_TYPE" val="2"/>
  <p:tag name="KSO_WM_UNIT_USESOURCEFORMAT_APPLY" val="1"/>
</p:tagLst>
</file>

<file path=ppt/tags/tag7.xml><?xml version="1.0" encoding="utf-8"?>
<p:tagLst xmlns:p="http://schemas.openxmlformats.org/presentationml/2006/main">
  <p:tag name="KSO_WM_UNIT_TEXT_FILL_FORE_SCHEMECOLOR_INDEX_BRIGHTNESS" val="0.25"/>
  <p:tag name="KSO_WM_DIAGRAM_MAX_ITEMCNT" val="2"/>
  <p:tag name="KSO_WM_DIAGRAM_MIN_ITEMCNT" val="1"/>
  <p:tag name="KSO_WM_DIAGRAM_VIRTUALLY_FRAME" val="{&quot;height&quot;:356.3725912573715,&quot;left&quot;:462.55,&quot;top&quot;:114.15,&quot;width&quot;:482.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7928_1*l_h_f*1_1_1"/>
  <p:tag name="KSO_WM_TEMPLATE_CATEGORY" val="diagram"/>
  <p:tag name="KSO_WM_TEMPLATE_INDEX" val="20237928"/>
  <p:tag name="KSO_WM_UNIT_LAYERLEVEL" val="1_1_1"/>
  <p:tag name="KSO_WM_TAG_VERSION" val="3.0"/>
  <p:tag name="KSO_WM_BEAUTIFY_FLAG" val="#wm#"/>
  <p:tag name="KSO_WM_UNIT_PRESET_TEXT" val="Presentations are communication tools that can be used as demonstrations, lectures, speeches, reports, and more."/>
  <p:tag name="KSO_WM_UNIT_TEXT_FILL_FORE_SCHEMECOLOR_INDEX" val="1"/>
  <p:tag name="KSO_WM_UNIT_TEXT_FILL_TYPE" val="1"/>
  <p:tag name="KSO_WM_UNIT_USESOURCEFORMAT_APPLY" val="1"/>
</p:tagLst>
</file>

<file path=ppt/tags/tag8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396.85*189.818"/>
  <p:tag name="KSO_WM_SLIDE_POSITION" val="505.125*263.978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8253"/>
  <p:tag name="KSO_WM_TEMPLATE_SUBCATEGORY" val="0"/>
  <p:tag name="KSO_WM_SLIDE_INDEX" val="1"/>
  <p:tag name="KSO_WM_TAG_VERSION" val="3.0"/>
  <p:tag name="KSO_WM_SLIDE_ID" val="custom20238253_1"/>
  <p:tag name="KSO_WM_SLIDE_ITEM_CNT" val="1"/>
</p:tagLst>
</file>

<file path=ppt/tags/tag9.xml><?xml version="1.0" encoding="utf-8"?>
<p:tagLst xmlns:p="http://schemas.openxmlformats.org/presentationml/2006/main">
  <p:tag name="KSO_WM_BEAUTIFY_FLAG" val="#wm#"/>
  <p:tag name="KSO_WM_TEMPLATE_CATEGORY" val="custom"/>
  <p:tag name="KSO_WM_TEMPLATE_INDEX" val="20238253"/>
</p:tagLst>
</file>

<file path=ppt/tags/tag10.xml><?xml version="1.0" encoding="utf-8"?>
<p:tagLst xmlns:p="http://schemas.openxmlformats.org/presentationml/2006/main">
  <p:tag name="KSO_WM_BEAUTIFY_FLAG" val="#wm#"/>
  <p:tag name="KSO_WM_TEMPLATE_CATEGORY" val="custom"/>
  <p:tag name="KSO_WM_TEMPLATE_INDEX" val="20238253"/>
</p:tagLst>
</file>

<file path=ppt/tags/tag11.xml><?xml version="1.0" encoding="utf-8"?>
<p:tagLst xmlns:p="http://schemas.openxmlformats.org/presentationml/2006/main">
  <p:tag name="KSO_WM_BEAUTIFY_FLAG" val="#wm#"/>
  <p:tag name="KSO_WM_TEMPLATE_CATEGORY" val="custom"/>
  <p:tag name="KSO_WM_TEMPLATE_INDEX" val="20238253"/>
</p:tagLst>
</file>

<file path=ppt/tags/tag12.xml><?xml version="1.0" encoding="utf-8"?>
<p:tagLst xmlns:p="http://schemas.openxmlformats.org/presentationml/2006/main">
  <p:tag name="KSO_WM_BEAUTIFY_FLAG" val="#wm#"/>
  <p:tag name="KSO_WM_TEMPLATE_CATEGORY" val="custom"/>
  <p:tag name="KSO_WM_TEMPLATE_INDEX" val="20238253"/>
</p:tagLst>
</file>

<file path=ppt/tags/tag13.xml><?xml version="1.0" encoding="utf-8"?>
<p:tagLst xmlns:p="http://schemas.openxmlformats.org/presentationml/2006/main">
  <p:tag name="KSO_WM_BEAUTIFY_FLAG" val="#wm#"/>
  <p:tag name="KSO_WM_TEMPLATE_CATEGORY" val="custom"/>
  <p:tag name="KSO_WM_TEMPLATE_INDEX" val="20238253"/>
</p:tagLst>
</file>

<file path=ppt/tags/tag14.xml><?xml version="1.0" encoding="utf-8"?>
<p:tagLst xmlns:p="http://schemas.openxmlformats.org/presentationml/2006/main">
  <p:tag name="KSO_WM_BEAUTIFY_FLAG" val="#wm#"/>
  <p:tag name="KSO_WM_TEMPLATE_CATEGORY" val="custom"/>
  <p:tag name="KSO_WM_TEMPLATE_INDEX" val="20238253"/>
</p:tagLst>
</file>

<file path=ppt/tags/tag15.xml><?xml version="1.0" encoding="utf-8"?>
<p:tagLst xmlns:p="http://schemas.openxmlformats.org/presentationml/2006/main">
  <p:tag name="KSO_WM_BEAUTIFY_FLAG" val="#wm#"/>
  <p:tag name="KSO_WM_TEMPLATE_CATEGORY" val="custom"/>
  <p:tag name="KSO_WM_TEMPLATE_INDEX" val="20238253"/>
</p:tagLst>
</file>

<file path=ppt/tags/tag16.xml><?xml version="1.0" encoding="utf-8"?>
<p:tagLst xmlns:p="http://schemas.openxmlformats.org/presentationml/2006/main">
  <p:tag name="KSO_WM_BEAUTIFY_FLAG" val="#wm#"/>
  <p:tag name="KSO_WM_TEMPLATE_CATEGORY" val="custom"/>
  <p:tag name="KSO_WM_TEMPLATE_INDEX" val="20238253"/>
</p:tagLst>
</file>

<file path=ppt/tags/tag17.xml><?xml version="1.0" encoding="utf-8"?>
<p:tagLst xmlns:p="http://schemas.openxmlformats.org/presentationml/2006/main">
  <p:tag name="KSO_WM_BEAUTIFY_FLAG" val="#wm#"/>
  <p:tag name="KSO_WM_TEMPLATE_CATEGORY" val="custom"/>
  <p:tag name="KSO_WM_TEMPLATE_INDEX" val="20238253"/>
</p:tagLst>
</file>

<file path=ppt/tags/tag18.xml><?xml version="1.0" encoding="utf-8"?>
<p:tagLst xmlns:p="http://schemas.openxmlformats.org/presentationml/2006/main">
  <p:tag name="KSO_WM_BEAUTIFY_FLAG" val="#wm#"/>
  <p:tag name="KSO_WM_TEMPLATE_CATEGORY" val="custom"/>
  <p:tag name="KSO_WM_TEMPLATE_INDEX" val="20238253"/>
</p:tagLst>
</file>

<file path=ppt/theme/theme1.xml><?xml version="1.0" encoding="utf-8"?>
<a:theme xmlns:a="http://schemas.openxmlformats.org/drawingml/2006/main" name="Communications and Dialogues">
  <a:themeElements>
    <a:clrScheme name="Communications and Dialogu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Communications and Dialogu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Communications and Dialogu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6673</Words>
  <Application>WPS Presentation</Application>
  <PresentationFormat>Widescreen</PresentationFormat>
  <Paragraphs>204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SimSun</vt:lpstr>
      <vt:lpstr>Wingdings</vt:lpstr>
      <vt:lpstr>Georgia</vt:lpstr>
      <vt:lpstr>monospace</vt:lpstr>
      <vt:lpstr>Segoe Print</vt:lpstr>
      <vt:lpstr>Google Sans Text</vt:lpstr>
      <vt:lpstr>Arial</vt:lpstr>
      <vt:lpstr>Microsoft YaHei</vt:lpstr>
      <vt:lpstr>Arial Unicode MS</vt:lpstr>
      <vt:lpstr>Calibri</vt:lpstr>
      <vt:lpstr>Communications and Dialogues</vt:lpstr>
      <vt:lpstr>NLP ASSIGNMENT</vt:lpstr>
      <vt:lpstr>Challenges</vt:lpstr>
      <vt:lpstr>Your title here</vt:lpstr>
      <vt:lpstr>Reddit Data Collection</vt:lpstr>
      <vt:lpstr>Labelling by Pre-trained Model: </vt:lpstr>
      <vt:lpstr>Text Preprocessing</vt:lpstr>
      <vt:lpstr>Feature Engineering</vt:lpstr>
      <vt:lpstr>Depression Detection Model</vt:lpstr>
      <vt:lpstr>Data Visualization:</vt:lpstr>
      <vt:lpstr>main() Execution</vt:lpstr>
      <vt:lpstr>Results</vt:lpstr>
      <vt:lpstr>PowerPoint 演示文稿</vt:lpstr>
      <vt:lpstr>Custom Testing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singh</dc:creator>
  <cp:lastModifiedBy>Son Goku</cp:lastModifiedBy>
  <cp:revision>5</cp:revision>
  <dcterms:created xsi:type="dcterms:W3CDTF">2025-07-23T00:59:00Z</dcterms:created>
  <dcterms:modified xsi:type="dcterms:W3CDTF">2025-11-30T14:28:31Z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E153192465B8471DABBB331CF210A45C_11</vt:lpwstr>
  </property>
  <property fmtid="{D5CDD505-2E9C-101B-9397-08002B2CF9AE}" pid="3" name="KSOProductBuildVer">
    <vt:lpwstr>1033-12.2.0.23149</vt:lpwstr>
  </property>
</Properties>
</file>